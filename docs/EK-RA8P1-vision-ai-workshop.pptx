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25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32.xml" ContentType="application/vnd.openxmlformats-officedocument.presentationml.slideMaster+xml"/>
  <Override PartName="/ppt/presProps.xml" ContentType="application/vnd.openxmlformats-officedocument.presentationml.presProps+xml"/>
  <Override PartName="/ppt/media/image4.svg" ContentType="image/svg"/>
  <Override PartName="/ppt/media/image2.svg" ContentType="image/svg"/>
  <Override PartName="/ppt/media/image8.svg" ContentType="image/svg"/>
  <Override PartName="/ppt/media/image13.svg" ContentType="image/svg"/>
  <Override PartName="/ppt/notesMasters/notesMaster1.xml" ContentType="application/vnd.openxmlformats-officedocument.presentationml.notesMaster+xml"/>
  <Override PartName="/ppt/theme/theme29.xml" ContentType="application/vnd.openxmlformats-officedocument.theme+xml"/>
  <Override PartName="/ppt/theme/theme27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6.xml" ContentType="application/vnd.openxmlformats-officedocument.theme+xml"/>
  <Override PartName="/ppt/theme/theme19.xml" ContentType="application/vnd.openxmlformats-officedocument.theme+xml"/>
  <Override PartName="/ppt/theme/theme57.xml" ContentType="application/vnd.openxmlformats-officedocument.theme+xml"/>
  <Override PartName="/ppt/theme/theme18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1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24.xml" ContentType="application/vnd.openxmlformats-officedocument.theme+xml"/>
  <Override PartName="/ppt/theme/theme42.xml" ContentType="application/vnd.openxmlformats-officedocument.theme+xml"/>
  <Override PartName="/ppt/theme/theme28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43.xml" ContentType="application/vnd.openxmlformats-officedocument.theme+xml"/>
  <Override PartName="/ppt/theme/theme46.xml" ContentType="application/vnd.openxmlformats-officedocument.theme+xml"/>
  <Override PartName="/ppt/theme/theme54.xml" ContentType="application/vnd.openxmlformats-officedocument.theme+xml"/>
  <Override PartName="/ppt/theme/theme50.xml" ContentType="application/vnd.openxmlformats-officedocument.theme+xml"/>
  <Override PartName="/ppt/theme/theme53.xml" ContentType="application/vnd.openxmlformats-officedocument.theme+xml"/>
  <Override PartName="/ppt/theme/theme37.xml" ContentType="application/vnd.openxmlformats-officedocument.theme+xml"/>
  <Override PartName="/ppt/theme/theme44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45.xml" ContentType="application/vnd.openxmlformats-officedocument.theme+xml"/>
  <Override PartName="/ppt/theme/theme40.xml" ContentType="application/vnd.openxmlformats-officedocument.theme+xml"/>
  <Override PartName="/ppt/theme/theme25.xml" ContentType="application/vnd.openxmlformats-officedocument.theme+xml"/>
  <Override PartName="/ppt/theme/theme55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56.xml" ContentType="application/vnd.openxmlformats-officedocument.theme+xml"/>
  <Override PartName="/ppt/theme/theme16.xml" ContentType="application/vnd.openxmlformats-officedocument.theme+xml"/>
  <Override PartName="/ppt/theme/theme38.xml" ContentType="application/vnd.openxmlformats-officedocument.theme+xml"/>
  <Override PartName="/ppt/theme/theme8.xml" ContentType="application/vnd.openxmlformats-officedocument.theme+xml"/>
  <Override PartName="/ppt/theme/theme17.xml" ContentType="application/vnd.openxmlformats-officedocument.theme+xml"/>
  <Override PartName="/ppt/theme/theme49.xml" ContentType="application/vnd.openxmlformats-officedocument.theme+xml"/>
  <Override PartName="/ppt/theme/theme30.xml" ContentType="application/vnd.openxmlformats-officedocument.theme+xml"/>
  <Override PartName="/ppt/theme/theme13.xml" ContentType="application/vnd.openxmlformats-officedocument.theme+xml"/>
  <Override PartName="/ppt/theme/theme47.xml" ContentType="application/vnd.openxmlformats-officedocument.theme+xml"/>
  <Override PartName="/ppt/theme/theme36.xml" ContentType="application/vnd.openxmlformats-officedocument.theme+xml"/>
  <Override PartName="/ppt/theme/theme6.xml" ContentType="application/vnd.openxmlformats-officedocument.theme+xml"/>
  <Override PartName="/ppt/theme/theme35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9.xml" ContentType="application/vnd.openxmlformats-officedocument.theme+xml"/>
  <Override PartName="/ppt/theme/theme34.xml" ContentType="application/vnd.openxmlformats-officedocument.theme+xml"/>
  <Override PartName="/ppt/theme/theme20.xml" ContentType="application/vnd.openxmlformats-officedocument.theme+xml"/>
  <Override PartName="/ppt/theme/theme3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3" r:id="rId33"/>
    <p:sldMasterId id="2147483715" r:id="rId34"/>
    <p:sldMasterId id="2147483717" r:id="rId35"/>
    <p:sldMasterId id="2147483719" r:id="rId36"/>
    <p:sldMasterId id="2147483721" r:id="rId37"/>
    <p:sldMasterId id="2147483722" r:id="rId38"/>
    <p:sldMasterId id="2147483723" r:id="rId39"/>
    <p:sldMasterId id="2147483724" r:id="rId40"/>
    <p:sldMasterId id="2147483725" r:id="rId41"/>
    <p:sldMasterId id="2147483726" r:id="rId42"/>
    <p:sldMasterId id="2147483727" r:id="rId43"/>
    <p:sldMasterId id="2147483728" r:id="rId44"/>
    <p:sldMasterId id="2147483729" r:id="rId45"/>
    <p:sldMasterId id="2147483730" r:id="rId46"/>
    <p:sldMasterId id="2147483731" r:id="rId47"/>
    <p:sldMasterId id="2147483732" r:id="rId48"/>
    <p:sldMasterId id="2147483733" r:id="rId49"/>
    <p:sldMasterId id="2147483734" r:id="rId50"/>
    <p:sldMasterId id="2147483735" r:id="rId51"/>
    <p:sldMasterId id="2147483736" r:id="rId52"/>
    <p:sldMasterId id="2147483737" r:id="rId53"/>
    <p:sldMasterId id="2147483738" r:id="rId54"/>
    <p:sldMasterId id="2147483739" r:id="rId55"/>
    <p:sldMasterId id="2147483740" r:id="rId56"/>
    <p:sldMasterId id="2147483741" r:id="rId57"/>
  </p:sldMasterIdLst>
  <p:notesMasterIdLst>
    <p:notesMasterId r:id="rId58"/>
  </p:notesMasterIdLst>
  <p:sldIdLst>
    <p:sldId id="256" r:id="rId59"/>
    <p:sldId id="257" r:id="rId60"/>
    <p:sldId id="258" r:id="rId61"/>
    <p:sldId id="259" r:id="rId62"/>
    <p:sldId id="260" r:id="rId63"/>
    <p:sldId id="261" r:id="rId64"/>
    <p:sldId id="262" r:id="rId65"/>
    <p:sldId id="263" r:id="rId66"/>
    <p:sldId id="264" r:id="rId67"/>
    <p:sldId id="265" r:id="rId68"/>
    <p:sldId id="266" r:id="rId69"/>
    <p:sldId id="267" r:id="rId70"/>
    <p:sldId id="268" r:id="rId71"/>
    <p:sldId id="269" r:id="rId72"/>
    <p:sldId id="270" r:id="rId73"/>
    <p:sldId id="271" r:id="rId74"/>
    <p:sldId id="272" r:id="rId75"/>
    <p:sldId id="273" r:id="rId76"/>
    <p:sldId id="274" r:id="rId77"/>
    <p:sldId id="275" r:id="rId78"/>
    <p:sldId id="276" r:id="rId79"/>
    <p:sldId id="277" r:id="rId80"/>
    <p:sldId id="278" r:id="rId81"/>
    <p:sldId id="279" r:id="rId82"/>
    <p:sldId id="280" r:id="rId83"/>
    <p:sldId id="281" r:id="rId84"/>
    <p:sldId id="282" r:id="rId85"/>
    <p:sldId id="283" r:id="rId86"/>
    <p:sldId id="284" r:id="rId87"/>
    <p:sldId id="285" r:id="rId88"/>
    <p:sldId id="286" r:id="rId8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notesMaster" Target="notesMasters/notesMaster1.xml"/><Relationship Id="rId59" Type="http://schemas.openxmlformats.org/officeDocument/2006/relationships/slide" Target="slides/slide1.xml"/><Relationship Id="rId60" Type="http://schemas.openxmlformats.org/officeDocument/2006/relationships/slide" Target="slides/slide2.xml"/><Relationship Id="rId61" Type="http://schemas.openxmlformats.org/officeDocument/2006/relationships/slide" Target="slides/slide3.xml"/><Relationship Id="rId62" Type="http://schemas.openxmlformats.org/officeDocument/2006/relationships/slide" Target="slides/slide4.xml"/><Relationship Id="rId63" Type="http://schemas.openxmlformats.org/officeDocument/2006/relationships/slide" Target="slides/slide5.xml"/><Relationship Id="rId64" Type="http://schemas.openxmlformats.org/officeDocument/2006/relationships/slide" Target="slides/slide6.xml"/><Relationship Id="rId65" Type="http://schemas.openxmlformats.org/officeDocument/2006/relationships/slide" Target="slides/slide7.xml"/><Relationship Id="rId66" Type="http://schemas.openxmlformats.org/officeDocument/2006/relationships/slide" Target="slides/slide8.xml"/><Relationship Id="rId67" Type="http://schemas.openxmlformats.org/officeDocument/2006/relationships/slide" Target="slides/slide9.xml"/><Relationship Id="rId68" Type="http://schemas.openxmlformats.org/officeDocument/2006/relationships/slide" Target="slides/slide10.xml"/><Relationship Id="rId69" Type="http://schemas.openxmlformats.org/officeDocument/2006/relationships/slide" Target="slides/slide11.xml"/><Relationship Id="rId70" Type="http://schemas.openxmlformats.org/officeDocument/2006/relationships/slide" Target="slides/slide12.xml"/><Relationship Id="rId71" Type="http://schemas.openxmlformats.org/officeDocument/2006/relationships/slide" Target="slides/slide13.xml"/><Relationship Id="rId72" Type="http://schemas.openxmlformats.org/officeDocument/2006/relationships/slide" Target="slides/slide14.xml"/><Relationship Id="rId73" Type="http://schemas.openxmlformats.org/officeDocument/2006/relationships/slide" Target="slides/slide15.xml"/><Relationship Id="rId74" Type="http://schemas.openxmlformats.org/officeDocument/2006/relationships/slide" Target="slides/slide16.xml"/><Relationship Id="rId75" Type="http://schemas.openxmlformats.org/officeDocument/2006/relationships/slide" Target="slides/slide17.xml"/><Relationship Id="rId76" Type="http://schemas.openxmlformats.org/officeDocument/2006/relationships/slide" Target="slides/slide18.xml"/><Relationship Id="rId77" Type="http://schemas.openxmlformats.org/officeDocument/2006/relationships/slide" Target="slides/slide19.xml"/><Relationship Id="rId78" Type="http://schemas.openxmlformats.org/officeDocument/2006/relationships/slide" Target="slides/slide20.xml"/><Relationship Id="rId79" Type="http://schemas.openxmlformats.org/officeDocument/2006/relationships/slide" Target="slides/slide21.xml"/><Relationship Id="rId80" Type="http://schemas.openxmlformats.org/officeDocument/2006/relationships/slide" Target="slides/slide22.xml"/><Relationship Id="rId81" Type="http://schemas.openxmlformats.org/officeDocument/2006/relationships/slide" Target="slides/slide23.xml"/><Relationship Id="rId82" Type="http://schemas.openxmlformats.org/officeDocument/2006/relationships/slide" Target="slides/slide24.xml"/><Relationship Id="rId83" Type="http://schemas.openxmlformats.org/officeDocument/2006/relationships/slide" Target="slides/slide25.xml"/><Relationship Id="rId84" Type="http://schemas.openxmlformats.org/officeDocument/2006/relationships/slide" Target="slides/slide26.xml"/><Relationship Id="rId85" Type="http://schemas.openxmlformats.org/officeDocument/2006/relationships/slide" Target="slides/slide27.xml"/><Relationship Id="rId86" Type="http://schemas.openxmlformats.org/officeDocument/2006/relationships/slide" Target="slides/slide28.xml"/><Relationship Id="rId87" Type="http://schemas.openxmlformats.org/officeDocument/2006/relationships/slide" Target="slides/slide29.xml"/><Relationship Id="rId88" Type="http://schemas.openxmlformats.org/officeDocument/2006/relationships/slide" Target="slides/slide30.xml"/><Relationship Id="rId89" Type="http://schemas.openxmlformats.org/officeDocument/2006/relationships/slide" Target="slides/slide31.xml"/><Relationship Id="rId9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85000"/>
              </a:lnSpc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0C95A1-635C-414D-944F-1FA8F107153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68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3"/>
          <p:cNvSpPr>
            <a:spLocks noGrp="1"/>
          </p:cNvSpPr>
          <p:nvPr>
            <p:ph type="sldNum" idx="40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152875-8A14-4CE3-9282-71BF1133412E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 type="sldNum" idx="41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9BC1A8-B03A-48A8-A0EE-4A394BC3865C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sldNum" idx="42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25ED8A-BD2B-49F1-A8AF-6BB32CECCE4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77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sldNum" idx="43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ADF86D-B4F3-4D36-BC20-43195EFA83A8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3"/>
          <p:cNvSpPr>
            <a:spLocks noGrp="1"/>
          </p:cNvSpPr>
          <p:nvPr>
            <p:ph type="sldNum" idx="44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AFBCAF-913A-444C-9A44-5DE0C8ED3A08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83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45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6C1DFE-E3BB-49A4-A352-56DDFA96A70B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46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4B52BC-5068-45D5-88A1-ED12E49F5885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89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47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3BFED5-9F4C-4D51-ADD5-65834B522060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48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6E7692-3EDB-471D-BF7B-78AA03F0949C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49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589DCB-E8E1-43E4-934B-7B644AA3288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50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338FE-3C6D-4879-853F-153A1353FC4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51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7FF9C8-8DB3-4A7A-BA3C-D3AD4FDF49D4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52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FE8393-EA0D-4D0A-9E97-E5B7407882F4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53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2BF041-4E2D-445C-91E9-B5B07C60C4C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sldNum" idx="54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844F50-BBE5-4CD8-8A1E-0841D3FD476E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55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E162B3-E441-40BB-9A8B-C1DB75DB2943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sldNum" idx="56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2B55C9-7FF2-44A8-BB7A-77828AE6FED3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 type="sldNum" idx="57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6947A4-874B-4261-9C5A-6D2DFF20B499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2362320" y="549360"/>
            <a:ext cx="4876560" cy="274284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960120" y="3474720"/>
            <a:ext cx="7680600" cy="32914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58"/>
          </p:nvPr>
        </p:nvSpPr>
        <p:spPr>
          <a:xfrm>
            <a:off x="5438520" y="6948000"/>
            <a:ext cx="4160160" cy="36540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6A51D9-AE82-499B-8D63-E94F77466B08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ver - 2/3 Bleed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able of Contents - 1 Line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D0F2C5-7E74-4128-AC24-2C976264B63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sic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B38C40-4584-4406-9BFB-E0745491B72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able of Contents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468FD8-3B02-4751-BF99-6029207BFBBC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sic: CV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A9BC3AA-AE6B-47E4-8750-24758F50DB2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llout B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Image A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14EF28E-6C7F-459B-9865-FABA4F50CB07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Image B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88094B-A8B9-4DA6-A9A4-F041C4F8158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Image C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F9FE117-3BC9-4D23-A309-D316D56D709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Quote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B6D4870-CE13-4429-944B-67181EA1900C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Subhead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5053783-0355-4298-B655-0C52EEF2F2BE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Cover - Full Bleed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 Column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22E52DD-AADB-467E-B370-63AB18B404D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 - Text +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B6DDEC6-938A-4EA0-A3BB-2FDFF29B83C0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 - Image + Text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4AFAB2F-CCEA-44DF-AE3C-D2C11E8F566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50/50 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A85B49D0-D2A5-4CC0-8E6A-DC93909E6497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vider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Q&amp;A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Q&amp;A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Q&amp;A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ver - 2/3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nk you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nk you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nk you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emplate Section Inf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ver - Full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F3F438F-2EE6-45B8-9448-F9756793FEE1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 Line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0DAE0A8-5BF0-4751-BA94-63629DB04A07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 Line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C40EA22-6634-4BBC-8F03-10ECF4305DE4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-Line Title w/do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29FABF57-4491-4F27-BFE4-9970BB1656DB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-Line Title w/ Plus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3D421F2-2022-400D-AE51-578C8B4A2217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-Line Title w/Slas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A0FD8C-CEDB-4745-932C-6F04179D580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ver - 2/3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85000"/>
              </a:lnSpc>
              <a:buNone/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20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21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22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23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0.jpe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slideLayout" Target="../slideLayouts/slideLayout24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27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28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9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30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0.jpe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slideLayout" Target="../slideLayouts/slideLayout31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32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35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36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37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0.jpe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slideLayout" Target="../slideLayouts/slideLayout38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7.png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7.png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7.png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0.jpeg"/><Relationship Id="rId5" Type="http://schemas.openxmlformats.org/officeDocument/2006/relationships/image" Target="../media/image12.png"/><Relationship Id="rId6" Type="http://schemas.openxmlformats.org/officeDocument/2006/relationships/image" Target="../media/image13.svg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4.png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5.png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0" y="1738800"/>
            <a:ext cx="9143640" cy="34045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60800" y="975240"/>
            <a:ext cx="78418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6825960" cy="41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457200" y="1378440"/>
            <a:ext cx="4114440" cy="15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MM.DD.YYYY  |  Presenter’s Name, Title (optional)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Straight Connector 11"/>
          <p:cNvCxnSpPr/>
          <p:nvPr/>
        </p:nvCxnSpPr>
        <p:spPr>
          <a:xfrm>
            <a:off x="456840" y="699120"/>
            <a:ext cx="691200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9" name="Graphic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552800" y="73080"/>
            <a:ext cx="1634040" cy="5940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3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sldNum" idx="1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CBF5E66-8F59-4C2A-8EA3-B943EE60C72A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91368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35080" indent="-235080" algn="l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35080" indent="-235080" algn="l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0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0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23440" cy="41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2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D8881E3-4070-4CF9-B897-8177B62C98FA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98892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7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11560" cy="41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3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92C8059-55EA-4C4B-AC4D-D09E9A119428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914400"/>
            <a:ext cx="8229240" cy="335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4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90520"/>
            <a:ext cx="7717680" cy="41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4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7D4F0B0-B50A-4EF5-8887-54A4BC40077E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98892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41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45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0" y="914400"/>
            <a:ext cx="9143640" cy="42289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rm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i="1" u="none" strike="noStrike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99320" cy="41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5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C916CAD-A16F-4C40-9EBD-831A40E5B552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52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0" y="1281960"/>
            <a:ext cx="9143640" cy="34531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6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39F4ADE-D89E-4DC6-B612-AB45B8D95C64}" type="slidenum">
              <a:rPr lang="en-US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80960" cy="41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57200" y="865440"/>
            <a:ext cx="7847280" cy="24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60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body"/>
          </p:nvPr>
        </p:nvSpPr>
        <p:spPr>
          <a:xfrm>
            <a:off x="0" y="1371600"/>
            <a:ext cx="9143640" cy="37717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50720" cy="41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7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DF894AB-9CE1-46A7-A1E1-4F8236D41130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865440"/>
            <a:ext cx="7847280" cy="24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68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i="1" u="none" strike="noStrike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457200" y="2315520"/>
            <a:ext cx="6825960" cy="41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Insert quote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8"/>
          </p:nvPr>
        </p:nvSpPr>
        <p:spPr>
          <a:xfrm>
            <a:off x="140760" y="4908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547A924-74BA-4863-9FC6-C58625B1ED08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75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35600" cy="41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9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12D9A6A-B971-4AC4-8F15-E919E52DEA15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914400"/>
            <a:ext cx="78634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82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60800" y="4012200"/>
            <a:ext cx="69922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572000" y="4374720"/>
            <a:ext cx="4114440" cy="43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XX.XX.XXXX</a:t>
            </a:r>
            <a:br>
              <a:rPr sz="1000"/>
            </a:b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Presenter Name, Title</a:t>
            </a:r>
            <a:endParaRPr lang="en-US" sz="1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title"/>
          </p:nvPr>
        </p:nvSpPr>
        <p:spPr>
          <a:xfrm>
            <a:off x="457200" y="3504240"/>
            <a:ext cx="6988320" cy="4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90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sldNum" idx="10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A0834F3-61C7-4EC5-BBB6-510B8F7EC9F1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65840" cy="4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57200" y="914400"/>
            <a:ext cx="3840120" cy="335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843440" y="914400"/>
            <a:ext cx="3840120" cy="335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94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01760" lvl="4" indent="-15876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98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4642920" y="0"/>
            <a:ext cx="4500720" cy="51433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11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FD35C23-A4BF-4EA0-8D81-738CD0637713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911520"/>
            <a:ext cx="3840120" cy="31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94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01760" lvl="4" indent="-15876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title"/>
          </p:nvPr>
        </p:nvSpPr>
        <p:spPr>
          <a:xfrm>
            <a:off x="457200" y="292680"/>
            <a:ext cx="3855600" cy="39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Straight Connector 4"/>
          <p:cNvCxnSpPr/>
          <p:nvPr/>
        </p:nvCxnSpPr>
        <p:spPr>
          <a:xfrm>
            <a:off x="456840" y="699120"/>
            <a:ext cx="393264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07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12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5D2809D-3139-415A-BA18-C824278E3450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962240" y="911520"/>
            <a:ext cx="3724200" cy="31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94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01760" lvl="4" indent="-15876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title"/>
          </p:nvPr>
        </p:nvSpPr>
        <p:spPr>
          <a:xfrm>
            <a:off x="4962240" y="292680"/>
            <a:ext cx="3724200" cy="39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Straight Connector 6"/>
          <p:cNvCxnSpPr/>
          <p:nvPr/>
        </p:nvCxnSpPr>
        <p:spPr>
          <a:xfrm>
            <a:off x="4914000" y="699120"/>
            <a:ext cx="39322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16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0" y="2571840"/>
            <a:ext cx="9143640" cy="257148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914400"/>
            <a:ext cx="7841160" cy="152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94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01760" lvl="4" indent="-15876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87440" cy="4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13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198C94D-1E50-4088-A560-A4FAD4265FA3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21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22" name="Graphic 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26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2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Rectangle 11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85000">
                <a:srgbClr val="FFFFFF">
                  <a:alpha val="70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29" name="Graphic 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7"/>
    <p:sldLayoutId id="2147483682" r:id="rId8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35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2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14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85000">
                <a:srgbClr val="000000">
                  <a:alpha val="60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38" name="Graphic 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6080" y="90360"/>
            <a:ext cx="929880" cy="3380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7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42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7"/>
          <p:cNvPicPr/>
          <p:nvPr/>
        </p:nvPicPr>
        <p:blipFill>
          <a:blip r:embed="rId4"/>
          <a:stretch/>
        </p:blipFill>
        <p:spPr>
          <a:xfrm>
            <a:off x="0" y="0"/>
            <a:ext cx="9143640" cy="516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Rectangle 14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100000">
                <a:srgbClr val="FFFFFF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45" name="Graphic 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788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7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49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2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Rectangle 11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85000">
                <a:srgbClr val="FFFFFF">
                  <a:alpha val="70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Straight Connector 3"/>
          <p:cNvCxnSpPr/>
          <p:nvPr/>
        </p:nvCxnSpPr>
        <p:spPr>
          <a:xfrm>
            <a:off x="745200" y="2459880"/>
            <a:ext cx="5775120" cy="360"/>
          </a:xfrm>
          <a:prstGeom prst="straightConnector1">
            <a:avLst/>
          </a:prstGeom>
          <a:ln w="6480">
            <a:solidFill>
              <a:schemeClr val="lt1"/>
            </a:solidFill>
            <a:round/>
          </a:ln>
        </p:spPr>
      </p:cxnSp>
      <p:sp>
        <p:nvSpPr>
          <p:cNvPr id="153" name="Title 2"/>
          <p:cNvSpPr/>
          <p:nvPr/>
        </p:nvSpPr>
        <p:spPr>
          <a:xfrm>
            <a:off x="646560" y="1743840"/>
            <a:ext cx="588564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Q&amp;A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Graphic 5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788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7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58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2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14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85000">
                <a:srgbClr val="000000">
                  <a:alpha val="60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61" name="Graphic 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6080" y="90360"/>
            <a:ext cx="929880" cy="338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2" name="Straight Connector 3"/>
          <p:cNvCxnSpPr/>
          <p:nvPr/>
        </p:nvCxnSpPr>
        <p:spPr>
          <a:xfrm>
            <a:off x="745200" y="2459880"/>
            <a:ext cx="5775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sp>
        <p:nvSpPr>
          <p:cNvPr id="163" name="Title 2"/>
          <p:cNvSpPr/>
          <p:nvPr/>
        </p:nvSpPr>
        <p:spPr>
          <a:xfrm>
            <a:off x="646560" y="1743840"/>
            <a:ext cx="588564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Q&amp;A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7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67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Picture 7"/>
          <p:cNvPicPr/>
          <p:nvPr/>
        </p:nvPicPr>
        <p:blipFill>
          <a:blip r:embed="rId4"/>
          <a:stretch/>
        </p:blipFill>
        <p:spPr>
          <a:xfrm>
            <a:off x="0" y="0"/>
            <a:ext cx="9143640" cy="516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Rectangle 14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100000">
                <a:srgbClr val="FFFFFF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0" name="Graphic 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788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1" name="Straight Connector 2"/>
          <p:cNvCxnSpPr/>
          <p:nvPr/>
        </p:nvCxnSpPr>
        <p:spPr>
          <a:xfrm>
            <a:off x="745200" y="2459880"/>
            <a:ext cx="5775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sp>
        <p:nvSpPr>
          <p:cNvPr id="172" name="Title 2"/>
          <p:cNvSpPr/>
          <p:nvPr/>
        </p:nvSpPr>
        <p:spPr>
          <a:xfrm>
            <a:off x="646560" y="1743840"/>
            <a:ext cx="588564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Q&amp;A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7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76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PlaceHolder 1"/>
          <p:cNvSpPr>
            <a:spLocks noGrp="1"/>
          </p:cNvSpPr>
          <p:nvPr>
            <p:ph type="body"/>
          </p:nvPr>
        </p:nvSpPr>
        <p:spPr>
          <a:xfrm>
            <a:off x="0" y="1738800"/>
            <a:ext cx="9143640" cy="34045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60800" y="969120"/>
            <a:ext cx="78418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6964560" cy="4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457200" y="1378440"/>
            <a:ext cx="4114440" cy="15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MM.DD.YYYY  |  Presenter’s Name, Title (optional)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12"/>
          <p:cNvPicPr/>
          <p:nvPr/>
        </p:nvPicPr>
        <p:blipFill>
          <a:blip r:embed="rId4"/>
          <a:srcRect l="13954" t="16601" r="12883" b="16938"/>
          <a:stretch/>
        </p:blipFill>
        <p:spPr>
          <a:xfrm>
            <a:off x="0" y="1725120"/>
            <a:ext cx="9143640" cy="341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Graphic 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552800" y="76320"/>
            <a:ext cx="1634040" cy="594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3"/>
          <p:cNvCxnSpPr/>
          <p:nvPr/>
        </p:nvCxnSpPr>
        <p:spPr>
          <a:xfrm>
            <a:off x="456840" y="699120"/>
            <a:ext cx="703944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87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2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Rectangle 11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85000">
                <a:srgbClr val="FFFFFF">
                  <a:alpha val="70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90" name="Graphic 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7880" y="8496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3"/>
          <p:cNvCxnSpPr/>
          <p:nvPr/>
        </p:nvCxnSpPr>
        <p:spPr>
          <a:xfrm>
            <a:off x="745200" y="2459880"/>
            <a:ext cx="5775120" cy="360"/>
          </a:xfrm>
          <a:prstGeom prst="straightConnector1">
            <a:avLst/>
          </a:prstGeom>
          <a:ln w="6480">
            <a:solidFill>
              <a:schemeClr val="lt1"/>
            </a:solidFill>
            <a:round/>
          </a:ln>
        </p:spPr>
      </p:cxnSp>
      <p:sp>
        <p:nvSpPr>
          <p:cNvPr id="192" name="Title 2"/>
          <p:cNvSpPr/>
          <p:nvPr/>
        </p:nvSpPr>
        <p:spPr>
          <a:xfrm>
            <a:off x="646560" y="1743840"/>
            <a:ext cx="588564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Thank you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7"/>
    <p:sldLayoutId id="2147483697" r:id="rId8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198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2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Rectangle 14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85000">
                <a:srgbClr val="000000">
                  <a:alpha val="60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01" name="Graphic 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6080" y="90360"/>
            <a:ext cx="929880" cy="338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2" name="Straight Connector 3"/>
          <p:cNvCxnSpPr/>
          <p:nvPr/>
        </p:nvCxnSpPr>
        <p:spPr>
          <a:xfrm>
            <a:off x="745200" y="2459880"/>
            <a:ext cx="5775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sp>
        <p:nvSpPr>
          <p:cNvPr id="203" name="Title 2"/>
          <p:cNvSpPr/>
          <p:nvPr/>
        </p:nvSpPr>
        <p:spPr>
          <a:xfrm>
            <a:off x="646560" y="1743840"/>
            <a:ext cx="588564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Thank you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7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07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Picture 7"/>
          <p:cNvPicPr/>
          <p:nvPr/>
        </p:nvPicPr>
        <p:blipFill>
          <a:blip r:embed="rId4"/>
          <a:stretch/>
        </p:blipFill>
        <p:spPr>
          <a:xfrm>
            <a:off x="0" y="0"/>
            <a:ext cx="9143640" cy="516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Rectangle 14"/>
          <p:cNvSpPr/>
          <p:nvPr/>
        </p:nvSpPr>
        <p:spPr>
          <a:xfrm>
            <a:off x="0" y="0"/>
            <a:ext cx="7499880" cy="5143320"/>
          </a:xfrm>
          <a:prstGeom prst="rect">
            <a:avLst/>
          </a:prstGeom>
          <a:gradFill rotWithShape="0">
            <a:gsLst>
              <a:gs pos="0">
                <a:srgbClr val="F5FCF7">
                  <a:alpha val="0"/>
                </a:srgbClr>
              </a:gs>
              <a:gs pos="100000">
                <a:srgbClr val="FFFFFF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0" name="Graphic 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788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1" name="Straight Connector 2"/>
          <p:cNvCxnSpPr/>
          <p:nvPr/>
        </p:nvCxnSpPr>
        <p:spPr>
          <a:xfrm>
            <a:off x="745200" y="2459880"/>
            <a:ext cx="5775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sp>
        <p:nvSpPr>
          <p:cNvPr id="212" name="Title 2"/>
          <p:cNvSpPr/>
          <p:nvPr/>
        </p:nvSpPr>
        <p:spPr>
          <a:xfrm>
            <a:off x="646560" y="1743840"/>
            <a:ext cx="588564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Thank you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7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16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Picture 8"/>
          <p:cNvPicPr/>
          <p:nvPr/>
        </p:nvPicPr>
        <p:blipFill>
          <a:blip r:embed="rId4"/>
          <a:stretch/>
        </p:blipFill>
        <p:spPr>
          <a:xfrm>
            <a:off x="2599920" y="2080440"/>
            <a:ext cx="3944160" cy="982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5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21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78080" y="1977480"/>
            <a:ext cx="8187120" cy="7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85000"/>
              </a:lnSpc>
              <a:buNone/>
              <a:defRPr lang="en-US" sz="6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85000"/>
              </a:lnSpc>
              <a:buNone/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3" name="Title 9"/>
          <p:cNvSpPr/>
          <p:nvPr/>
        </p:nvSpPr>
        <p:spPr>
          <a:xfrm>
            <a:off x="420120" y="3700080"/>
            <a:ext cx="81871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85000"/>
              </a:lnSpc>
            </a:pPr>
            <a:r>
              <a:rPr lang="en-US" sz="1600" b="0" u="none" spc="79" strike="noStrike">
                <a:solidFill>
                  <a:schemeClr val="lt1"/>
                </a:solidFill>
                <a:effectLst/>
                <a:uFillTx/>
                <a:latin typeface="Arial Narrow"/>
              </a:rPr>
              <a:t>ATTENTION: DO NOT USE THIS YELLOW SLIDE IN YOUR PRESENTATIONS.</a:t>
            </a:r>
            <a:br>
              <a:rPr sz="1600"/>
            </a:br>
            <a:r>
              <a:rPr lang="en-US" sz="1600" b="0" u="none" spc="79" strike="noStrike">
                <a:solidFill>
                  <a:schemeClr val="lt1"/>
                </a:solidFill>
                <a:effectLst/>
                <a:uFillTx/>
                <a:latin typeface="Arial Narrow"/>
              </a:rPr>
              <a:t>(FOR SECTION ORGANIZATION ONLY)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27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Picture 6"/>
          <p:cNvPicPr/>
          <p:nvPr/>
        </p:nvPicPr>
        <p:blipFill>
          <a:blip r:embed="rId4"/>
          <a:srcRect l="13954" t="0" r="12883" b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PlaceHolder 1"/>
          <p:cNvSpPr>
            <a:spLocks noGrp="1"/>
          </p:cNvSpPr>
          <p:nvPr>
            <p:ph type="body"/>
          </p:nvPr>
        </p:nvSpPr>
        <p:spPr>
          <a:xfrm>
            <a:off x="460800" y="963000"/>
            <a:ext cx="69922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7015320" cy="4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460800" y="1504800"/>
            <a:ext cx="3114720" cy="3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XX.XX.XXXX    |    Presenter Name, Title</a:t>
            </a:r>
            <a:endParaRPr lang="en-US" sz="1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32" name="Graphic 4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552800" y="73080"/>
            <a:ext cx="1634040" cy="594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3" name="Straight Connector 3"/>
          <p:cNvCxnSpPr/>
          <p:nvPr/>
        </p:nvCxnSpPr>
        <p:spPr>
          <a:xfrm>
            <a:off x="456840" y="699120"/>
            <a:ext cx="703944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7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37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72040" cy="4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ldNum" idx="14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7016AF2-A568-465E-ABCB-2E6E1B435E87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457200" y="98748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4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44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15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AF3F351-1471-4287-83F7-3EA0F8FDE1EA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57200" y="91440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4"/>
    <p:sldLayoutId id="2147483712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51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2" name="Group 5"/>
          <p:cNvGrpSpPr/>
          <p:nvPr/>
        </p:nvGrpSpPr>
        <p:grpSpPr>
          <a:xfrm>
            <a:off x="0" y="4400640"/>
            <a:ext cx="9144000" cy="742680"/>
            <a:chOff x="0" y="4400640"/>
            <a:chExt cx="9144000" cy="742680"/>
          </a:xfrm>
        </p:grpSpPr>
        <p:pic>
          <p:nvPicPr>
            <p:cNvPr id="253" name="Picture 3"/>
            <p:cNvPicPr/>
            <p:nvPr/>
          </p:nvPicPr>
          <p:blipFill>
            <a:blip r:embed="rId4">
              <a:alphaModFix amt="20000"/>
            </a:blip>
            <a:srcRect l="29234" t="61571" r="399" b="31056"/>
            <a:stretch/>
          </p:blipFill>
          <p:spPr>
            <a:xfrm flipH="1">
              <a:off x="360" y="4548240"/>
              <a:ext cx="9143640" cy="538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4" name="Rectangle 1"/>
            <p:cNvSpPr/>
            <p:nvPr/>
          </p:nvSpPr>
          <p:spPr>
            <a:xfrm>
              <a:off x="0" y="4400640"/>
              <a:ext cx="5250240" cy="742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5" name="PlaceHolder 1"/>
          <p:cNvSpPr>
            <a:spLocks noGrp="1"/>
          </p:cNvSpPr>
          <p:nvPr>
            <p:ph type="sldNum" idx="16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32F6E14-B9FD-461E-A0AE-BF78F68CD7C2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457200" y="91440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0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5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61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2" name="Group 5"/>
          <p:cNvGrpSpPr/>
          <p:nvPr/>
        </p:nvGrpSpPr>
        <p:grpSpPr>
          <a:xfrm>
            <a:off x="0" y="4400640"/>
            <a:ext cx="9144000" cy="742680"/>
            <a:chOff x="0" y="4400640"/>
            <a:chExt cx="9144000" cy="742680"/>
          </a:xfrm>
        </p:grpSpPr>
        <p:pic>
          <p:nvPicPr>
            <p:cNvPr id="263" name="Picture 1"/>
            <p:cNvPicPr/>
            <p:nvPr/>
          </p:nvPicPr>
          <p:blipFill>
            <a:blip r:embed="rId4">
              <a:alphaModFix amt="20000"/>
            </a:blip>
            <a:srcRect l="896" t="53737" r="578" b="33395"/>
            <a:stretch/>
          </p:blipFill>
          <p:spPr>
            <a:xfrm flipH="1">
              <a:off x="360" y="4471920"/>
              <a:ext cx="9143640" cy="671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4" name="Rectangle 3"/>
            <p:cNvSpPr/>
            <p:nvPr/>
          </p:nvSpPr>
          <p:spPr>
            <a:xfrm>
              <a:off x="0" y="4400640"/>
              <a:ext cx="5250240" cy="742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17680" cy="41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sldNum" idx="17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12B55AF-D79F-4123-9662-A0A3322E4A76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457200" y="91440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5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Straight Connector 8"/>
          <p:cNvCxnSpPr/>
          <p:nvPr/>
        </p:nvCxnSpPr>
        <p:spPr>
          <a:xfrm>
            <a:off x="456840" y="699120"/>
            <a:ext cx="821988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71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72" name="Group 3"/>
          <p:cNvGrpSpPr/>
          <p:nvPr/>
        </p:nvGrpSpPr>
        <p:grpSpPr>
          <a:xfrm>
            <a:off x="0" y="4307760"/>
            <a:ext cx="9144000" cy="835920"/>
            <a:chOff x="0" y="4307760"/>
            <a:chExt cx="9144000" cy="835920"/>
          </a:xfrm>
        </p:grpSpPr>
        <p:pic>
          <p:nvPicPr>
            <p:cNvPr id="273" name="Picture 10"/>
            <p:cNvPicPr/>
            <p:nvPr/>
          </p:nvPicPr>
          <p:blipFill>
            <a:blip r:embed="rId4">
              <a:alphaModFix amt="20000"/>
            </a:blip>
            <a:srcRect l="0" t="42636" r="0" b="42636"/>
            <a:stretch/>
          </p:blipFill>
          <p:spPr>
            <a:xfrm rot="10800000">
              <a:off x="360" y="4386240"/>
              <a:ext cx="91436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4" name="Rectangle 1"/>
            <p:cNvSpPr/>
            <p:nvPr/>
          </p:nvSpPr>
          <p:spPr>
            <a:xfrm>
              <a:off x="0" y="4307760"/>
              <a:ext cx="5250240" cy="83556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17680" cy="41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18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F01C6E3-421C-47F2-ABB8-6576C345D62B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body"/>
          </p:nvPr>
        </p:nvSpPr>
        <p:spPr>
          <a:xfrm>
            <a:off x="457200" y="91440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78" name="Straight Connector 5"/>
          <p:cNvCxnSpPr/>
          <p:nvPr/>
        </p:nvCxnSpPr>
        <p:spPr>
          <a:xfrm>
            <a:off x="456840" y="699120"/>
            <a:ext cx="759780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5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82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PlaceHolder 1"/>
          <p:cNvSpPr>
            <a:spLocks noGrp="1"/>
          </p:cNvSpPr>
          <p:nvPr>
            <p:ph type="body"/>
          </p:nvPr>
        </p:nvSpPr>
        <p:spPr>
          <a:xfrm>
            <a:off x="0" y="1738800"/>
            <a:ext cx="9143640" cy="34045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460800" y="1151640"/>
            <a:ext cx="78418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6964560" cy="35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457200" y="1477440"/>
            <a:ext cx="4114440" cy="15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MM.DD.YYYY  |  Presenter’s Name, Title (optional)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87" name="Picture 12"/>
          <p:cNvPicPr/>
          <p:nvPr/>
        </p:nvPicPr>
        <p:blipFill>
          <a:blip r:embed="rId4"/>
          <a:srcRect l="13954" t="16601" r="12883" b="16938"/>
          <a:stretch/>
        </p:blipFill>
        <p:spPr>
          <a:xfrm>
            <a:off x="0" y="1725120"/>
            <a:ext cx="9143640" cy="341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Graphic 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557840" y="76320"/>
            <a:ext cx="1634040" cy="594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89" name="Straight Connector 3"/>
          <p:cNvCxnSpPr/>
          <p:nvPr/>
        </p:nvCxnSpPr>
        <p:spPr>
          <a:xfrm>
            <a:off x="456840" y="1010880"/>
            <a:ext cx="696240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7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93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29560" cy="72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19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5A47FE0-3286-4762-B57A-B84997D9FC82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57200" y="133488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298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PlaceHolder 1"/>
          <p:cNvSpPr>
            <a:spLocks noGrp="1"/>
          </p:cNvSpPr>
          <p:nvPr>
            <p:ph type="sldNum" idx="20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7D0DFEF-0814-412A-9CA4-29C0886C2605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29240" cy="335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568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03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23440" cy="72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sldNum" idx="21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1306D7E-593E-46A9-B562-AE26C503D7BF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29240" cy="335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07" name="Straight Connector 7"/>
          <p:cNvCxnSpPr/>
          <p:nvPr/>
        </p:nvCxnSpPr>
        <p:spPr>
          <a:xfrm>
            <a:off x="0" y="4860720"/>
            <a:ext cx="9144360" cy="360"/>
          </a:xfrm>
          <a:prstGeom prst="straightConnector1">
            <a:avLst/>
          </a:prstGeom>
          <a:ln w="6480">
            <a:solidFill>
              <a:schemeClr val="accent4"/>
            </a:solidFill>
            <a:round/>
          </a:ln>
        </p:spPr>
      </p:cxnSp>
      <p:pic>
        <p:nvPicPr>
          <p:cNvPr id="308" name="Picture 9"/>
          <p:cNvPicPr/>
          <p:nvPr/>
        </p:nvPicPr>
        <p:blipFill>
          <a:blip r:embed="rId4"/>
          <a:stretch/>
        </p:blipFill>
        <p:spPr>
          <a:xfrm>
            <a:off x="2216160" y="4946040"/>
            <a:ext cx="4511160" cy="239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10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93200" cy="7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ldNum" idx="22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5E5A6B1-C626-4696-88F0-6879D0CCB339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Straight Connector 7"/>
          <p:cNvCxnSpPr/>
          <p:nvPr/>
        </p:nvCxnSpPr>
        <p:spPr>
          <a:xfrm>
            <a:off x="0" y="4860720"/>
            <a:ext cx="9144360" cy="360"/>
          </a:xfrm>
          <a:prstGeom prst="straightConnector1">
            <a:avLst/>
          </a:prstGeom>
          <a:ln w="6480">
            <a:solidFill>
              <a:schemeClr val="accent4"/>
            </a:solidFill>
            <a:round/>
          </a:ln>
        </p:spPr>
      </p:cxnSp>
      <p:pic>
        <p:nvPicPr>
          <p:cNvPr id="315" name="Picture 8"/>
          <p:cNvPicPr/>
          <p:nvPr/>
        </p:nvPicPr>
        <p:blipFill>
          <a:blip r:embed="rId4"/>
          <a:stretch/>
        </p:blipFill>
        <p:spPr>
          <a:xfrm>
            <a:off x="2216160" y="4946040"/>
            <a:ext cx="4511160" cy="239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17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932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ldNum" idx="23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4DCD857-5221-4185-9B60-4B4FE19E17DF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457200" y="133488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21" name="Straight Connector 7"/>
          <p:cNvCxnSpPr/>
          <p:nvPr/>
        </p:nvCxnSpPr>
        <p:spPr>
          <a:xfrm>
            <a:off x="0" y="4860720"/>
            <a:ext cx="9144360" cy="360"/>
          </a:xfrm>
          <a:prstGeom prst="straightConnector1">
            <a:avLst/>
          </a:prstGeom>
          <a:ln w="6480">
            <a:solidFill>
              <a:schemeClr val="accent4"/>
            </a:solidFill>
            <a:round/>
          </a:ln>
        </p:spPr>
      </p:cxnSp>
      <p:pic>
        <p:nvPicPr>
          <p:cNvPr id="322" name="Picture 8"/>
          <p:cNvPicPr/>
          <p:nvPr/>
        </p:nvPicPr>
        <p:blipFill>
          <a:blip r:embed="rId4"/>
          <a:stretch/>
        </p:blipFill>
        <p:spPr>
          <a:xfrm>
            <a:off x="2216160" y="4946040"/>
            <a:ext cx="4511160" cy="239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24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PlaceHolder 1"/>
          <p:cNvSpPr>
            <a:spLocks noGrp="1"/>
          </p:cNvSpPr>
          <p:nvPr>
            <p:ph type="body"/>
          </p:nvPr>
        </p:nvSpPr>
        <p:spPr>
          <a:xfrm>
            <a:off x="0" y="1281960"/>
            <a:ext cx="9143640" cy="386136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rm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i="1" u="none" strike="noStrike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418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24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C63859E-C34B-4365-9641-9EC8E72A31B2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29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0" y="1631520"/>
            <a:ext cx="9143640" cy="311868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457200" y="1201320"/>
            <a:ext cx="64008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25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75A68AC-D88A-41B6-84A7-BE51A915F5CA}" type="slidenum">
              <a:rPr lang="en-US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29560" cy="72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4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35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1768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26"/>
          </p:nvPr>
        </p:nvSpPr>
        <p:spPr>
          <a:xfrm>
            <a:off x="140760" y="489672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6711853-A49E-46F9-9C6B-3AE09C5D0063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457200" y="1201320"/>
            <a:ext cx="640080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0" i="1" u="none" strike="noStrike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0" y="1631520"/>
            <a:ext cx="9143640" cy="351180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i="1" u="none" strike="noStrike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0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41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69932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ldNum" idx="27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3825859-9F45-48BF-95F1-031D6CDFE7B4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38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46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PlaceHolder 1"/>
          <p:cNvSpPr>
            <a:spLocks noGrp="1"/>
          </p:cNvSpPr>
          <p:nvPr>
            <p:ph type="sldNum" idx="28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1E45D1E-D569-4BD2-958B-D659A74F734F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2956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457200" y="1257840"/>
            <a:ext cx="3840120" cy="335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body"/>
          </p:nvPr>
        </p:nvSpPr>
        <p:spPr>
          <a:xfrm>
            <a:off x="4843440" y="1257840"/>
            <a:ext cx="3840120" cy="335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76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82680" lvl="4" indent="-13968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52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Picture 6"/>
          <p:cNvPicPr/>
          <p:nvPr/>
        </p:nvPicPr>
        <p:blipFill>
          <a:blip r:embed="rId4"/>
          <a:srcRect l="13954" t="0" r="12883" b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Rectangle 8"/>
          <p:cNvSpPr/>
          <p:nvPr/>
        </p:nvSpPr>
        <p:spPr>
          <a:xfrm>
            <a:off x="0" y="0"/>
            <a:ext cx="9143640" cy="3236760"/>
          </a:xfrm>
          <a:prstGeom prst="rect">
            <a:avLst/>
          </a:prstGeom>
          <a:gradFill rotWithShape="0">
            <a:gsLst>
              <a:gs pos="0">
                <a:srgbClr val="000000">
                  <a:alpha val="7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body"/>
          </p:nvPr>
        </p:nvSpPr>
        <p:spPr>
          <a:xfrm>
            <a:off x="460800" y="1161360"/>
            <a:ext cx="69922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70153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460800" y="1504800"/>
            <a:ext cx="3114720" cy="3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XX.XX.XXXX    |    Presenter Name, Title</a:t>
            </a:r>
            <a:endParaRPr lang="en-US" sz="1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58" name="Graphic 4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557840" y="76320"/>
            <a:ext cx="1634040" cy="594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59" name="Straight Connector 2"/>
          <p:cNvCxnSpPr/>
          <p:nvPr/>
        </p:nvCxnSpPr>
        <p:spPr>
          <a:xfrm>
            <a:off x="456840" y="1010880"/>
            <a:ext cx="696240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61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body"/>
          </p:nvPr>
        </p:nvSpPr>
        <p:spPr>
          <a:xfrm>
            <a:off x="4642920" y="0"/>
            <a:ext cx="4500720" cy="51433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 idx="29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8202449-6FF3-4FE5-A2ED-A7AA8255DD25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body"/>
          </p:nvPr>
        </p:nvSpPr>
        <p:spPr>
          <a:xfrm>
            <a:off x="457200" y="1261800"/>
            <a:ext cx="3840120" cy="31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76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82680" lvl="4" indent="-13968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 type="title"/>
          </p:nvPr>
        </p:nvSpPr>
        <p:spPr>
          <a:xfrm>
            <a:off x="457200" y="292680"/>
            <a:ext cx="3890160" cy="77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66" name="Straight Connector 1"/>
          <p:cNvCxnSpPr/>
          <p:nvPr/>
        </p:nvCxnSpPr>
        <p:spPr>
          <a:xfrm>
            <a:off x="456840" y="1075320"/>
            <a:ext cx="388656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7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68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4962240" y="1261800"/>
            <a:ext cx="372132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76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82680" lvl="4" indent="-13968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title"/>
          </p:nvPr>
        </p:nvSpPr>
        <p:spPr>
          <a:xfrm>
            <a:off x="4962240" y="292680"/>
            <a:ext cx="372420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72" name="Straight Connector 9"/>
          <p:cNvCxnSpPr/>
          <p:nvPr/>
        </p:nvCxnSpPr>
        <p:spPr>
          <a:xfrm>
            <a:off x="4907520" y="1023480"/>
            <a:ext cx="377964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sp>
        <p:nvSpPr>
          <p:cNvPr id="373" name="PlaceHolder 4"/>
          <p:cNvSpPr>
            <a:spLocks noGrp="1"/>
          </p:cNvSpPr>
          <p:nvPr>
            <p:ph type="sldNum" idx="30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44225B0-79D7-4FFC-9AF0-49B5B2AA109E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75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PlaceHolder 1"/>
          <p:cNvSpPr>
            <a:spLocks noGrp="1"/>
          </p:cNvSpPr>
          <p:nvPr>
            <p:ph type="body"/>
          </p:nvPr>
        </p:nvSpPr>
        <p:spPr>
          <a:xfrm>
            <a:off x="0" y="2874600"/>
            <a:ext cx="9143640" cy="226836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457200" y="1255680"/>
            <a:ext cx="8229240" cy="144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Subhead goes here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171360" lvl="1" indent="-171360" algn="l" defTabSz="914400">
              <a:lnSpc>
                <a:spcPct val="100000"/>
              </a:lnSpc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9120" lvl="2" indent="-17604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9800" lvl="3" indent="-14760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82680" lvl="4" indent="-139680" algn="l" defTabSz="914400">
              <a:lnSpc>
                <a:spcPct val="100000"/>
              </a:lnSpc>
              <a:spcBef>
                <a:spcPts val="201"/>
              </a:spcBef>
              <a:buClr>
                <a:srgbClr val="41C36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29560" cy="7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sldNum" idx="31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800C818-9FFC-4273-8047-F94D4328EEF7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0" name="Graphic 3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7880" y="8496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1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2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83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PlaceHolder 1"/>
          <p:cNvSpPr>
            <a:spLocks noGrp="1"/>
          </p:cNvSpPr>
          <p:nvPr>
            <p:ph type="body"/>
          </p:nvPr>
        </p:nvSpPr>
        <p:spPr>
          <a:xfrm>
            <a:off x="0" y="1738800"/>
            <a:ext cx="9143640" cy="34045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460800" y="1186200"/>
            <a:ext cx="78418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6825960" cy="72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body"/>
          </p:nvPr>
        </p:nvSpPr>
        <p:spPr>
          <a:xfrm>
            <a:off x="457200" y="1477440"/>
            <a:ext cx="4114440" cy="15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MM.DD.YYYY  |  Presenter’s Name, Title (optional)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88" name="Graphic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557840" y="76320"/>
            <a:ext cx="1634040" cy="594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9" name="Straight Connector 2"/>
          <p:cNvCxnSpPr/>
          <p:nvPr/>
        </p:nvCxnSpPr>
        <p:spPr>
          <a:xfrm>
            <a:off x="456840" y="1010880"/>
            <a:ext cx="696240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91" name="Graphic 6" hidden="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chemeClr val="accent6">
              <a:alpha val="30000"/>
            </a:schemeClr>
          </a:solidFill>
          <a:ln w="0">
            <a:noFill/>
          </a:ln>
        </p:spPr>
        <p:txBody>
          <a:bodyPr lIns="90000" tIns="914400" rIns="90000" bIns="0" anchor="ctr">
            <a:noAutofit/>
          </a:bodyPr>
          <a:lstStyle>
            <a:lvl1pPr indent="0" algn="ctr" defTabSz="914400">
              <a:lnSpc>
                <a:spcPct val="100000"/>
              </a:lnSpc>
              <a:tabLst>
                <a:tab pos="0" algn="l"/>
              </a:tabLst>
              <a:def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icon to insert image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DOWNLOAD AVNET-BRANDED IMAGES AT</a:t>
            </a:r>
            <a:br>
              <a:rPr sz="900"/>
            </a:br>
            <a:r>
              <a:rPr lang="en-US" sz="900" b="0" i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BRAND.AVNET.COM </a:t>
            </a:r>
            <a:endParaRPr lang="en-US" sz="9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460800" y="4012200"/>
            <a:ext cx="69922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4572000" y="4374720"/>
            <a:ext cx="4114440" cy="43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XX.XX.XXXX</a:t>
            </a:r>
            <a:br>
              <a:rPr sz="1000"/>
            </a:b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Presenter Name, Title</a:t>
            </a:r>
            <a:endParaRPr lang="en-US" sz="1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title"/>
          </p:nvPr>
        </p:nvSpPr>
        <p:spPr>
          <a:xfrm>
            <a:off x="457200" y="3504240"/>
            <a:ext cx="6988320" cy="4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397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5680" cy="71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sldNum" idx="32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74B1A45-2EA8-4E9A-8322-AF10A3FEC380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29240" cy="335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402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5680" cy="71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29240" cy="30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05" name="Group 1"/>
          <p:cNvGrpSpPr/>
          <p:nvPr/>
        </p:nvGrpSpPr>
        <p:grpSpPr>
          <a:xfrm>
            <a:off x="0" y="4400640"/>
            <a:ext cx="9144000" cy="742680"/>
            <a:chOff x="0" y="4400640"/>
            <a:chExt cx="9144000" cy="742680"/>
          </a:xfrm>
        </p:grpSpPr>
        <p:pic>
          <p:nvPicPr>
            <p:cNvPr id="406" name="Picture 3"/>
            <p:cNvPicPr/>
            <p:nvPr/>
          </p:nvPicPr>
          <p:blipFill>
            <a:blip r:embed="rId4">
              <a:alphaModFix amt="20000"/>
            </a:blip>
            <a:srcRect l="29234" t="61571" r="399" b="31056"/>
            <a:stretch/>
          </p:blipFill>
          <p:spPr>
            <a:xfrm flipH="1">
              <a:off x="360" y="4548240"/>
              <a:ext cx="9143640" cy="538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7" name="Rectangle 5"/>
            <p:cNvSpPr/>
            <p:nvPr/>
          </p:nvSpPr>
          <p:spPr>
            <a:xfrm>
              <a:off x="0" y="4400640"/>
              <a:ext cx="5250240" cy="742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8" name="PlaceHolder 3"/>
          <p:cNvSpPr>
            <a:spLocks noGrp="1"/>
          </p:cNvSpPr>
          <p:nvPr>
            <p:ph type="sldNum" idx="33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1F6115D-7C0A-47D2-9E1B-F985CA68E16F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410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11" name="Group 1"/>
          <p:cNvGrpSpPr/>
          <p:nvPr/>
        </p:nvGrpSpPr>
        <p:grpSpPr>
          <a:xfrm>
            <a:off x="0" y="4400640"/>
            <a:ext cx="9144000" cy="742680"/>
            <a:chOff x="0" y="4400640"/>
            <a:chExt cx="9144000" cy="742680"/>
          </a:xfrm>
        </p:grpSpPr>
        <p:pic>
          <p:nvPicPr>
            <p:cNvPr id="412" name="Picture 3"/>
            <p:cNvPicPr/>
            <p:nvPr/>
          </p:nvPicPr>
          <p:blipFill>
            <a:blip r:embed="rId4">
              <a:alphaModFix amt="20000"/>
            </a:blip>
            <a:srcRect l="896" t="53737" r="578" b="33395"/>
            <a:stretch/>
          </p:blipFill>
          <p:spPr>
            <a:xfrm flipH="1">
              <a:off x="360" y="4471920"/>
              <a:ext cx="9143640" cy="671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3" name="Rectangle 5"/>
            <p:cNvSpPr/>
            <p:nvPr/>
          </p:nvSpPr>
          <p:spPr>
            <a:xfrm>
              <a:off x="0" y="4400640"/>
              <a:ext cx="5250240" cy="742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5680" cy="71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sldNum" idx="34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F22154D-306F-411A-AE85-47F281BEF40F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29240" cy="30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7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418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19" name="Group 3"/>
          <p:cNvGrpSpPr/>
          <p:nvPr/>
        </p:nvGrpSpPr>
        <p:grpSpPr>
          <a:xfrm>
            <a:off x="0" y="4307760"/>
            <a:ext cx="9144000" cy="835920"/>
            <a:chOff x="0" y="4307760"/>
            <a:chExt cx="9144000" cy="835920"/>
          </a:xfrm>
        </p:grpSpPr>
        <p:pic>
          <p:nvPicPr>
            <p:cNvPr id="420" name="Picture 5"/>
            <p:cNvPicPr/>
            <p:nvPr/>
          </p:nvPicPr>
          <p:blipFill>
            <a:blip r:embed="rId4">
              <a:alphaModFix amt="20000"/>
            </a:blip>
            <a:srcRect l="0" t="42636" r="0" b="42636"/>
            <a:stretch/>
          </p:blipFill>
          <p:spPr>
            <a:xfrm rot="10800000">
              <a:off x="360" y="4386240"/>
              <a:ext cx="91436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21" name="Rectangle 7"/>
            <p:cNvSpPr/>
            <p:nvPr/>
          </p:nvSpPr>
          <p:spPr>
            <a:xfrm>
              <a:off x="0" y="4307760"/>
              <a:ext cx="5250240" cy="83556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568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sldNum" idx="35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FD9C5EF-A9BB-43D3-91D8-F9B6E22F2533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457200" y="1261800"/>
            <a:ext cx="8229240" cy="30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5" name="Straight Connector 2"/>
          <p:cNvCxnSpPr/>
          <p:nvPr/>
        </p:nvCxnSpPr>
        <p:spPr>
          <a:xfrm>
            <a:off x="456840" y="1010880"/>
            <a:ext cx="8214120" cy="360"/>
          </a:xfrm>
          <a:prstGeom prst="straightConnector1">
            <a:avLst/>
          </a:prstGeom>
          <a:ln w="6480">
            <a:solidFill>
              <a:schemeClr val="accent1"/>
            </a:solidFill>
            <a:round/>
          </a:ln>
        </p:spPr>
      </p:cxnSp>
      <p:pic>
        <p:nvPicPr>
          <p:cNvPr id="426" name="Graphic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600" y="91440"/>
            <a:ext cx="933120" cy="3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PlaceHolder 1"/>
          <p:cNvSpPr>
            <a:spLocks noGrp="1"/>
          </p:cNvSpPr>
          <p:nvPr>
            <p:ph type="sldNum" idx="36"/>
          </p:nvPr>
        </p:nvSpPr>
        <p:spPr>
          <a:xfrm>
            <a:off x="140760" y="4890960"/>
            <a:ext cx="24660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A4FDEFE-62F2-43C3-A691-17BD3260AEB9}" type="slidenum">
              <a:rPr lang="en-US" sz="800" b="0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457200" y="1334880"/>
            <a:ext cx="8229240" cy="331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  <a:def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568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2-line headline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3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34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3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3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3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34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/>
          </p:nvPr>
        </p:nvSpPr>
        <p:spPr>
          <a:xfrm>
            <a:off x="460800" y="1151640"/>
            <a:ext cx="7841880" cy="25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Noto Sans CJK SC"/>
              </a:rPr>
              <a:t>Hot-swap AI models onto an active microcontroller from the cloud and stream live video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title"/>
          </p:nvPr>
        </p:nvSpPr>
        <p:spPr>
          <a:xfrm>
            <a:off x="457200" y="292680"/>
            <a:ext cx="6964560" cy="35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Hands-On: Vision AI on the EK-RA8P1 with /IOTCONNECT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457200" y="1477440"/>
            <a:ext cx="4114440" cy="15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2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60-minutes  |  Zack Andraka, Technical Solutions Engineer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What We Will Achieve in this Workshop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9000"/>
          <p:cNvSpPr/>
          <p:nvPr/>
        </p:nvSpPr>
        <p:spPr>
          <a:xfrm>
            <a:off x="457200" y="1310400"/>
            <a:ext cx="1949400" cy="237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9001"/>
          <p:cNvSpPr/>
          <p:nvPr/>
        </p:nvSpPr>
        <p:spPr>
          <a:xfrm>
            <a:off x="621720" y="1447560"/>
            <a:ext cx="1620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FIND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9002"/>
          <p:cNvSpPr/>
          <p:nvPr/>
        </p:nvSpPr>
        <p:spPr>
          <a:xfrm>
            <a:off x="621720" y="1694520"/>
            <a:ext cx="16203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Locate your device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9003"/>
          <p:cNvSpPr/>
          <p:nvPr/>
        </p:nvSpPr>
        <p:spPr>
          <a:xfrm>
            <a:off x="621720" y="2243160"/>
            <a:ext cx="162036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1150" b="0" u="none" strike="noStrike">
                <a:solidFill>
                  <a:srgbClr val="5F6369"/>
                </a:solidFill>
                <a:effectLst/>
                <a:uFillTx/>
                <a:latin typeface="Arial"/>
              </a:rPr>
              <a:t>Sign in, open the dashboard with your seat number, and watch your board's live telemetry arrive.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9004"/>
          <p:cNvSpPr/>
          <p:nvPr/>
        </p:nvSpPr>
        <p:spPr>
          <a:xfrm>
            <a:off x="2550600" y="1310400"/>
            <a:ext cx="1949400" cy="237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9005"/>
          <p:cNvSpPr/>
          <p:nvPr/>
        </p:nvSpPr>
        <p:spPr>
          <a:xfrm>
            <a:off x="2715120" y="1447560"/>
            <a:ext cx="1620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PUSH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9006"/>
          <p:cNvSpPr/>
          <p:nvPr/>
        </p:nvSpPr>
        <p:spPr>
          <a:xfrm>
            <a:off x="2715120" y="1694520"/>
            <a:ext cx="1620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 AI Models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9007"/>
          <p:cNvSpPr/>
          <p:nvPr/>
        </p:nvSpPr>
        <p:spPr>
          <a:xfrm>
            <a:off x="2715120" y="2243160"/>
            <a:ext cx="162036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1150" b="0" u="none" strike="noStrike">
                <a:solidFill>
                  <a:srgbClr val="5F6369"/>
                </a:solidFill>
                <a:effectLst/>
                <a:uFillTx/>
                <a:latin typeface="Arial"/>
              </a:rPr>
              <a:t>Deploy three different AI models from the cloud: a face detector, a 1000-class classifier, an occupancy sensor.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9008"/>
          <p:cNvSpPr/>
          <p:nvPr/>
        </p:nvSpPr>
        <p:spPr>
          <a:xfrm>
            <a:off x="4644000" y="1310400"/>
            <a:ext cx="1949400" cy="237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9009"/>
          <p:cNvSpPr/>
          <p:nvPr/>
        </p:nvSpPr>
        <p:spPr>
          <a:xfrm>
            <a:off x="4808520" y="1447560"/>
            <a:ext cx="1620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VALIDATE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9010"/>
          <p:cNvSpPr/>
          <p:nvPr/>
        </p:nvSpPr>
        <p:spPr>
          <a:xfrm>
            <a:off x="4808520" y="1694520"/>
            <a:ext cx="1620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Seamless Integration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9011"/>
          <p:cNvSpPr/>
          <p:nvPr/>
        </p:nvSpPr>
        <p:spPr>
          <a:xfrm>
            <a:off x="4808520" y="2243160"/>
            <a:ext cx="162036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1150" b="0" u="none" strike="noStrike">
                <a:solidFill>
                  <a:srgbClr val="5F6369"/>
                </a:solidFill>
                <a:effectLst/>
                <a:uFillTx/>
                <a:latin typeface="Arial"/>
              </a:rPr>
              <a:t>Swap models while the board keeps running, then pull the power and see the model come back from flash.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9040"/>
          <p:cNvSpPr/>
          <p:nvPr/>
        </p:nvSpPr>
        <p:spPr>
          <a:xfrm>
            <a:off x="6737400" y="1310400"/>
            <a:ext cx="1949400" cy="237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9041"/>
          <p:cNvSpPr/>
          <p:nvPr/>
        </p:nvSpPr>
        <p:spPr>
          <a:xfrm>
            <a:off x="6901920" y="1447560"/>
            <a:ext cx="1620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WATCH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9042"/>
          <p:cNvSpPr/>
          <p:nvPr/>
        </p:nvSpPr>
        <p:spPr>
          <a:xfrm>
            <a:off x="6901920" y="1694520"/>
            <a:ext cx="1620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Stream Live Video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9043"/>
          <p:cNvSpPr/>
          <p:nvPr/>
        </p:nvSpPr>
        <p:spPr>
          <a:xfrm>
            <a:off x="6901920" y="2243160"/>
            <a:ext cx="1620360" cy="12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1150" b="0" u="none" strike="noStrike">
                <a:solidFill>
                  <a:srgbClr val="5F6369"/>
                </a:solidFill>
                <a:effectLst/>
                <a:uFillTx/>
                <a:latin typeface="Arial"/>
              </a:rPr>
              <a:t>Open a live WebRTC video stream from your board on the dashboard and the device page, while the model keeps running.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9012"/>
          <p:cNvSpPr/>
          <p:nvPr/>
        </p:nvSpPr>
        <p:spPr>
          <a:xfrm>
            <a:off x="475560" y="3866400"/>
            <a:ext cx="1334520" cy="4568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9013"/>
          <p:cNvSpPr/>
          <p:nvPr/>
        </p:nvSpPr>
        <p:spPr>
          <a:xfrm>
            <a:off x="475560" y="4015080"/>
            <a:ext cx="1334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1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Talk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9014"/>
          <p:cNvSpPr/>
          <p:nvPr/>
        </p:nvSpPr>
        <p:spPr>
          <a:xfrm>
            <a:off x="1847160" y="3866400"/>
            <a:ext cx="1334520" cy="4568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9015"/>
          <p:cNvSpPr/>
          <p:nvPr/>
        </p:nvSpPr>
        <p:spPr>
          <a:xfrm>
            <a:off x="1847160" y="4015080"/>
            <a:ext cx="1334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1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Lab 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9016"/>
          <p:cNvSpPr/>
          <p:nvPr/>
        </p:nvSpPr>
        <p:spPr>
          <a:xfrm>
            <a:off x="3218760" y="3866400"/>
            <a:ext cx="1334520" cy="4568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9017"/>
          <p:cNvSpPr/>
          <p:nvPr/>
        </p:nvSpPr>
        <p:spPr>
          <a:xfrm>
            <a:off x="3218760" y="4015080"/>
            <a:ext cx="1334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1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Lab 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9018"/>
          <p:cNvSpPr/>
          <p:nvPr/>
        </p:nvSpPr>
        <p:spPr>
          <a:xfrm>
            <a:off x="4590360" y="3866400"/>
            <a:ext cx="1334520" cy="4568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9019"/>
          <p:cNvSpPr/>
          <p:nvPr/>
        </p:nvSpPr>
        <p:spPr>
          <a:xfrm>
            <a:off x="4590360" y="4015080"/>
            <a:ext cx="1334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1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Lab 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9030"/>
          <p:cNvSpPr/>
          <p:nvPr/>
        </p:nvSpPr>
        <p:spPr>
          <a:xfrm>
            <a:off x="5961960" y="3866400"/>
            <a:ext cx="1334520" cy="4568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9031"/>
          <p:cNvSpPr/>
          <p:nvPr/>
        </p:nvSpPr>
        <p:spPr>
          <a:xfrm>
            <a:off x="5961960" y="4015080"/>
            <a:ext cx="1334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1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Lab 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9020"/>
          <p:cNvSpPr/>
          <p:nvPr/>
        </p:nvSpPr>
        <p:spPr>
          <a:xfrm>
            <a:off x="7333560" y="3866400"/>
            <a:ext cx="1334520" cy="456840"/>
          </a:xfrm>
          <a:prstGeom prst="rect">
            <a:avLst/>
          </a:prstGeom>
          <a:solidFill>
            <a:srgbClr val="00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9021"/>
          <p:cNvSpPr/>
          <p:nvPr/>
        </p:nvSpPr>
        <p:spPr>
          <a:xfrm>
            <a:off x="7333560" y="4015080"/>
            <a:ext cx="1334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1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Talk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902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C0023D8-7BC9-41B1-84F1-03C2A09F9F0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Workspace Checklist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9000"/>
          <p:cNvSpPr/>
          <p:nvPr/>
        </p:nvSpPr>
        <p:spPr>
          <a:xfrm>
            <a:off x="457200" y="1005840"/>
            <a:ext cx="4023000" cy="132552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9001"/>
          <p:cNvSpPr/>
          <p:nvPr/>
        </p:nvSpPr>
        <p:spPr>
          <a:xfrm>
            <a:off x="585360" y="1134000"/>
            <a:ext cx="3767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3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Board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9002"/>
          <p:cNvSpPr/>
          <p:nvPr/>
        </p:nvSpPr>
        <p:spPr>
          <a:xfrm>
            <a:off x="585360" y="1444680"/>
            <a:ext cx="376704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Pre-flashed and pre-configured EK-RA8P1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Camera module connected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LCD connected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9003"/>
          <p:cNvSpPr/>
          <p:nvPr/>
        </p:nvSpPr>
        <p:spPr>
          <a:xfrm>
            <a:off x="4663440" y="1005840"/>
            <a:ext cx="4023000" cy="132552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9004"/>
          <p:cNvSpPr/>
          <p:nvPr/>
        </p:nvSpPr>
        <p:spPr>
          <a:xfrm>
            <a:off x="4791600" y="1134000"/>
            <a:ext cx="3767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3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Two Cables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9005"/>
          <p:cNvSpPr/>
          <p:nvPr/>
        </p:nvSpPr>
        <p:spPr>
          <a:xfrm>
            <a:off x="4791600" y="1444680"/>
            <a:ext cx="37670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Ethernet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USB-C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9006"/>
          <p:cNvSpPr/>
          <p:nvPr/>
        </p:nvSpPr>
        <p:spPr>
          <a:xfrm>
            <a:off x="457200" y="2514600"/>
            <a:ext cx="4023000" cy="132552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9007"/>
          <p:cNvSpPr/>
          <p:nvPr/>
        </p:nvSpPr>
        <p:spPr>
          <a:xfrm>
            <a:off x="585360" y="2642760"/>
            <a:ext cx="3767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3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Unique Seat Card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9008"/>
          <p:cNvSpPr/>
          <p:nvPr/>
        </p:nvSpPr>
        <p:spPr>
          <a:xfrm>
            <a:off x="585360" y="2953440"/>
            <a:ext cx="376704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Seat number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/IOTCONNECT Login (user+N) credentials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Name of your /IOTCONNECT dashboard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9009"/>
          <p:cNvSpPr/>
          <p:nvPr/>
        </p:nvSpPr>
        <p:spPr>
          <a:xfrm>
            <a:off x="4663440" y="2514600"/>
            <a:ext cx="4023000" cy="132552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9010"/>
          <p:cNvSpPr/>
          <p:nvPr/>
        </p:nvSpPr>
        <p:spPr>
          <a:xfrm>
            <a:off x="4791600" y="2642760"/>
            <a:ext cx="3767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3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Your Laptop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9011"/>
          <p:cNvSpPr/>
          <p:nvPr/>
        </p:nvSpPr>
        <p:spPr>
          <a:xfrm>
            <a:off x="4791600" y="2953440"/>
            <a:ext cx="376704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browser open to console.iotconnect.io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serial terminal installed (next slide)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free USB port for the board's cable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Workspace Notice"/>
          <p:cNvSpPr/>
          <p:nvPr/>
        </p:nvSpPr>
        <p:spPr>
          <a:xfrm>
            <a:off x="457200" y="4014000"/>
            <a:ext cx="8229240" cy="540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If your workspace is not as described above, please raise your hand to let an instructor know.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Workspace Notice Accent"/>
          <p:cNvSpPr/>
          <p:nvPr/>
        </p:nvSpPr>
        <p:spPr>
          <a:xfrm>
            <a:off x="457200" y="4014000"/>
            <a:ext cx="90000" cy="540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9014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6EE6F50-6448-408B-ABD9-AB54E749D73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Before You Start: Open a Serial Terminal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6" name="Serial Band"/>
          <p:cNvSpPr/>
          <p:nvPr/>
        </p:nvSpPr>
        <p:spPr>
          <a:xfrm>
            <a:off x="457560" y="1332000"/>
            <a:ext cx="8229240" cy="828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00000"/>
              </a:lnSpc>
              <a:spcAft>
                <a:spcPts val="283"/>
              </a:spcAft>
            </a:pPr>
            <a:r>
              <a:rPr lang="en-US" sz="1100" b="1" u="none" spc="142" strike="noStrike">
                <a:solidFill>
                  <a:srgbClr val="368748"/>
                </a:solidFill>
                <a:effectLst/>
                <a:uFillTx/>
                <a:latin typeface="Arial"/>
              </a:rPr>
              <a:t>BEFORE LAB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6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Lab 1 uses a serial terminal to show the board’s console. The recommended one runs in your browser, so there is nothing to install.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erial Band Accent"/>
          <p:cNvSpPr/>
          <p:nvPr/>
        </p:nvSpPr>
        <p:spPr>
          <a:xfrm>
            <a:off x="457560" y="1332000"/>
            <a:ext cx="90000" cy="828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Windows"/>
          <p:cNvSpPr/>
          <p:nvPr/>
        </p:nvSpPr>
        <p:spPr>
          <a:xfrm>
            <a:off x="457200" y="2286000"/>
            <a:ext cx="4042800" cy="1332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9" name="Windows Title"/>
          <p:cNvSpPr/>
          <p:nvPr/>
        </p:nvSpPr>
        <p:spPr>
          <a:xfrm>
            <a:off x="585360" y="2394000"/>
            <a:ext cx="37728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Recommended: nothing to install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Windows Body"/>
          <p:cNvSpPr/>
          <p:nvPr/>
        </p:nvSpPr>
        <p:spPr>
          <a:xfrm>
            <a:off x="585360" y="2646000"/>
            <a:ext cx="37872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Chrome Labs Serial Terminal </a:t>
            </a: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runs in your browser on Windows, macOS and Linux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</a:t>
            </a: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googlechromelabs.github.io/serial-terminal</a:t>
            </a: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 Chrome or Edge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MacLinux"/>
          <p:cNvSpPr/>
          <p:nvPr/>
        </p:nvSpPr>
        <p:spPr>
          <a:xfrm>
            <a:off x="4644000" y="2286000"/>
            <a:ext cx="4042800" cy="1332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2" name="MacLinux Title"/>
          <p:cNvSpPr/>
          <p:nvPr/>
        </p:nvSpPr>
        <p:spPr>
          <a:xfrm>
            <a:off x="4772160" y="2394000"/>
            <a:ext cx="37728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Using Firefox or Safari?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MacLinux Body"/>
          <p:cNvSpPr/>
          <p:nvPr/>
        </p:nvSpPr>
        <p:spPr>
          <a:xfrm>
            <a:off x="4772160" y="2646000"/>
            <a:ext cx="37872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Windows: </a:t>
            </a: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PuTTY (putty.software) or Tera Term (github.com/TeraTermProject/teraterm/releases)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macOS and Linux: </a:t>
            </a: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screen /dev/tty.usbmodem* 230400, or /dev/ttyACM0 on Linux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Dashboard Notice"/>
          <p:cNvSpPr/>
          <p:nvPr/>
        </p:nvSpPr>
        <p:spPr>
          <a:xfrm>
            <a:off x="457200" y="3762000"/>
            <a:ext cx="8229240" cy="432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Lab 1 settings: 230400 baud, 8 data bits, no parity, 1 stop bit, no flow control.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Dashboard Notice Accent"/>
          <p:cNvSpPr/>
          <p:nvPr/>
        </p:nvSpPr>
        <p:spPr>
          <a:xfrm>
            <a:off x="457200" y="3762000"/>
            <a:ext cx="90000" cy="432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9029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646A943-2755-4CD3-A330-AF08C230D0D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 an MCU for Vision AI?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9000"/>
          <p:cNvSpPr/>
          <p:nvPr/>
        </p:nvSpPr>
        <p:spPr>
          <a:xfrm>
            <a:off x="457200" y="1005840"/>
            <a:ext cx="2647080" cy="237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9001"/>
          <p:cNvSpPr/>
          <p:nvPr/>
        </p:nvSpPr>
        <p:spPr>
          <a:xfrm>
            <a:off x="585360" y="1134000"/>
            <a:ext cx="2376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Time Efficiency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9002"/>
          <p:cNvSpPr/>
          <p:nvPr/>
        </p:nvSpPr>
        <p:spPr>
          <a:xfrm>
            <a:off x="585360" y="1447560"/>
            <a:ext cx="239040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Boots in milliseconds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Simple firmware reduces design and debug time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Ethos-U55 completes face detection in </a:t>
            </a: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 6ms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worries of spending time on OS updates and re-designs for future incompatibilities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ectangle 9003"/>
          <p:cNvSpPr/>
          <p:nvPr/>
        </p:nvSpPr>
        <p:spPr>
          <a:xfrm>
            <a:off x="3248280" y="1005840"/>
            <a:ext cx="2647080" cy="237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9004"/>
          <p:cNvSpPr/>
          <p:nvPr/>
        </p:nvSpPr>
        <p:spPr>
          <a:xfrm>
            <a:off x="3376440" y="1134000"/>
            <a:ext cx="2376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Power Efficiency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9005"/>
          <p:cNvSpPr/>
          <p:nvPr/>
        </p:nvSpPr>
        <p:spPr>
          <a:xfrm>
            <a:off x="3376440" y="1444680"/>
            <a:ext cx="2390400" cy="13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Deterministic firmware on streamlined hardware results in minimal power needs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CPU, RAM, and peripherals all on one chip so power isn’t wasted sending data between components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9010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Cost"/>
          <p:cNvSpPr/>
          <p:nvPr/>
        </p:nvSpPr>
        <p:spPr>
          <a:xfrm>
            <a:off x="6039360" y="1005840"/>
            <a:ext cx="2647080" cy="237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Cost Title"/>
          <p:cNvSpPr/>
          <p:nvPr/>
        </p:nvSpPr>
        <p:spPr>
          <a:xfrm>
            <a:off x="6167520" y="1134000"/>
            <a:ext cx="2376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Cost and Size Efficiency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Cost Body"/>
          <p:cNvSpPr/>
          <p:nvPr/>
        </p:nvSpPr>
        <p:spPr>
          <a:xfrm>
            <a:off x="6167520" y="1444680"/>
            <a:ext cx="2390400" cy="14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CPU, NPU, SRAM and flash in a single package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PMIC or high-speed DDR routing as an MPU design typically needs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Fewer parts means a smaller, lower-cost board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Bottom Line"/>
          <p:cNvSpPr/>
          <p:nvPr/>
        </p:nvSpPr>
        <p:spPr>
          <a:xfrm>
            <a:off x="457560" y="3525840"/>
            <a:ext cx="8229240" cy="918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00000"/>
              </a:lnSpc>
              <a:spcAft>
                <a:spcPts val="283"/>
              </a:spcAft>
            </a:pPr>
            <a:r>
              <a:rPr lang="en-US" sz="1100" b="1" u="none" spc="142" strike="noStrike">
                <a:solidFill>
                  <a:srgbClr val="368748"/>
                </a:solidFill>
                <a:effectLst/>
                <a:uFillTx/>
                <a:latin typeface="Arial"/>
              </a:rPr>
              <a:t>BOTTOM 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6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MCUs are more than capable of supporting top-notch Vision AI applications, without the extra time and energy required with many MPUs.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Bottom Line Accent"/>
          <p:cNvSpPr/>
          <p:nvPr/>
        </p:nvSpPr>
        <p:spPr>
          <a:xfrm>
            <a:off x="457560" y="3525840"/>
            <a:ext cx="90000" cy="918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A415D02-73F7-4517-A03B-D09C48FF098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Rectangle 3"/>
          <p:cNvSpPr/>
          <p:nvPr/>
        </p:nvSpPr>
        <p:spPr>
          <a:xfrm>
            <a:off x="5614560" y="1581840"/>
            <a:ext cx="1425960" cy="1764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How Does Model Deployment Work?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8"/>
          <p:cNvSpPr/>
          <p:nvPr/>
        </p:nvSpPr>
        <p:spPr>
          <a:xfrm>
            <a:off x="457200" y="1581840"/>
            <a:ext cx="1425960" cy="1764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2"/>
          <p:cNvSpPr/>
          <p:nvPr/>
        </p:nvSpPr>
        <p:spPr>
          <a:xfrm>
            <a:off x="567000" y="1691640"/>
            <a:ext cx="12067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23"/>
          <p:cNvSpPr/>
          <p:nvPr/>
        </p:nvSpPr>
        <p:spPr>
          <a:xfrm>
            <a:off x="567000" y="2075760"/>
            <a:ext cx="12067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5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Send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24"/>
          <p:cNvSpPr/>
          <p:nvPr/>
        </p:nvSpPr>
        <p:spPr>
          <a:xfrm>
            <a:off x="567000" y="2385000"/>
            <a:ext cx="120672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command from /IOTCONNECT to the board over MQTT with the model's download link.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Chevron 5"/>
          <p:cNvSpPr/>
          <p:nvPr/>
        </p:nvSpPr>
        <p:spPr>
          <a:xfrm>
            <a:off x="1929240" y="2450520"/>
            <a:ext cx="200880" cy="2739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9"/>
          <p:cNvSpPr/>
          <p:nvPr/>
        </p:nvSpPr>
        <p:spPr>
          <a:xfrm>
            <a:off x="2176200" y="1581840"/>
            <a:ext cx="1425960" cy="1764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25"/>
          <p:cNvSpPr/>
          <p:nvPr/>
        </p:nvSpPr>
        <p:spPr>
          <a:xfrm>
            <a:off x="2286000" y="1691640"/>
            <a:ext cx="12067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26"/>
          <p:cNvSpPr/>
          <p:nvPr/>
        </p:nvSpPr>
        <p:spPr>
          <a:xfrm>
            <a:off x="2286000" y="2075760"/>
            <a:ext cx="12067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5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Download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27"/>
          <p:cNvSpPr/>
          <p:nvPr/>
        </p:nvSpPr>
        <p:spPr>
          <a:xfrm>
            <a:off x="2286000" y="2385000"/>
            <a:ext cx="120672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model over HTTPS from S3 into a 4 MB holding buffer in SDRAM.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Chevron 6"/>
          <p:cNvSpPr/>
          <p:nvPr/>
        </p:nvSpPr>
        <p:spPr>
          <a:xfrm>
            <a:off x="3648600" y="2450520"/>
            <a:ext cx="200880" cy="2739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10"/>
          <p:cNvSpPr/>
          <p:nvPr/>
        </p:nvSpPr>
        <p:spPr>
          <a:xfrm>
            <a:off x="3895200" y="1581840"/>
            <a:ext cx="1425960" cy="1764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28"/>
          <p:cNvSpPr/>
          <p:nvPr/>
        </p:nvSpPr>
        <p:spPr>
          <a:xfrm>
            <a:off x="4005000" y="1691640"/>
            <a:ext cx="12067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29"/>
          <p:cNvSpPr/>
          <p:nvPr/>
        </p:nvSpPr>
        <p:spPr>
          <a:xfrm>
            <a:off x="4005000" y="2075760"/>
            <a:ext cx="12067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5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Validate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30"/>
          <p:cNvSpPr/>
          <p:nvPr/>
        </p:nvSpPr>
        <p:spPr>
          <a:xfrm>
            <a:off x="4005000" y="2385000"/>
            <a:ext cx="120672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file: a CRC checksum confirms it arrived intact, then a test load identifies the model type.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Chevron 7"/>
          <p:cNvSpPr/>
          <p:nvPr/>
        </p:nvSpPr>
        <p:spPr>
          <a:xfrm>
            <a:off x="5367600" y="2450520"/>
            <a:ext cx="200880" cy="2739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31"/>
          <p:cNvSpPr/>
          <p:nvPr/>
        </p:nvSpPr>
        <p:spPr>
          <a:xfrm>
            <a:off x="5724000" y="1691640"/>
            <a:ext cx="12067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32"/>
          <p:cNvSpPr/>
          <p:nvPr/>
        </p:nvSpPr>
        <p:spPr>
          <a:xfrm>
            <a:off x="5724000" y="2075760"/>
            <a:ext cx="12067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5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Hot-swap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33"/>
          <p:cNvSpPr/>
          <p:nvPr/>
        </p:nvSpPr>
        <p:spPr>
          <a:xfrm>
            <a:off x="5724000" y="2385000"/>
            <a:ext cx="120672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old model for the new one between two camera frames, reusing the same memory.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Chevron 8"/>
          <p:cNvSpPr/>
          <p:nvPr/>
        </p:nvSpPr>
        <p:spPr>
          <a:xfrm>
            <a:off x="7086600" y="2450520"/>
            <a:ext cx="200880" cy="2739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12"/>
          <p:cNvSpPr/>
          <p:nvPr/>
        </p:nvSpPr>
        <p:spPr>
          <a:xfrm>
            <a:off x="7333560" y="1581840"/>
            <a:ext cx="1425960" cy="1764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34"/>
          <p:cNvSpPr/>
          <p:nvPr/>
        </p:nvSpPr>
        <p:spPr>
          <a:xfrm>
            <a:off x="7443360" y="1691640"/>
            <a:ext cx="12067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35"/>
          <p:cNvSpPr/>
          <p:nvPr/>
        </p:nvSpPr>
        <p:spPr>
          <a:xfrm>
            <a:off x="7443360" y="2075760"/>
            <a:ext cx="12067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5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Save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36"/>
          <p:cNvSpPr/>
          <p:nvPr/>
        </p:nvSpPr>
        <p:spPr>
          <a:xfrm>
            <a:off x="7443360" y="2385000"/>
            <a:ext cx="120672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model to the board's flash storage so it survives a reboot or power loss.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Intro"/>
          <p:cNvSpPr/>
          <p:nvPr/>
        </p:nvSpPr>
        <p:spPr>
          <a:xfrm>
            <a:off x="457200" y="1005840"/>
            <a:ext cx="8302320" cy="432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Here's what happens automatically after you click “Push Model” in /IOTCONNECT: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Intro Accent"/>
          <p:cNvSpPr/>
          <p:nvPr/>
        </p:nvSpPr>
        <p:spPr>
          <a:xfrm>
            <a:off x="457200" y="1005840"/>
            <a:ext cx="90000" cy="432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FYI Notes"/>
          <p:cNvSpPr/>
          <p:nvPr/>
        </p:nvSpPr>
        <p:spPr>
          <a:xfrm>
            <a:off x="457200" y="3489840"/>
            <a:ext cx="8302320" cy="936000"/>
          </a:xfrm>
          <a:prstGeom prst="rect">
            <a:avLst/>
          </a:prstGeom>
          <a:solidFill>
            <a:srgbClr val="F2F2F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16000" tIns="108000" rIns="216000" bIns="108000" anchor="ctr">
            <a:noAutofit/>
          </a:bodyPr>
          <a:p>
            <a:pPr>
              <a:lnSpc>
                <a:spcPct val="100000"/>
              </a:lnSpc>
              <a:spcAft>
                <a:spcPts val="283"/>
              </a:spcAft>
            </a:pPr>
            <a:r>
              <a:rPr lang="en-US" sz="1100" b="1" u="none" spc="142" strike="noStrike">
                <a:solidFill>
                  <a:srgbClr val="368748"/>
                </a:solidFill>
                <a:effectLst/>
                <a:uFillTx/>
                <a:latin typeface="Arial"/>
              </a:rPr>
              <a:t>FYI</a:t>
            </a:r>
            <a:endParaRPr lang="en-US" sz="1100" b="0" u="none" strike="noStrike">
              <a:solidFill>
                <a:srgbClr val="368748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hiccup at step 3 or 4 keeps the previous model running. The camera, display and telemetry never stop during any step.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push during a live video stream is deferred until the download can share the heap, then proceeds with the stream still playing.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39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D651C5-E542-478C-9419-906BD59CEE5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board: Renesas EK-RA8P1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40" name="Picture 9000" descr="board.jpg"/>
          <p:cNvPicPr/>
          <p:nvPr/>
        </p:nvPicPr>
        <p:blipFill>
          <a:blip r:embed="rId1"/>
          <a:stretch/>
        </p:blipFill>
        <p:spPr>
          <a:xfrm>
            <a:off x="457200" y="1005840"/>
            <a:ext cx="2031480" cy="36115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541" name="Table 9001"/>
          <p:cNvGraphicFramePr/>
          <p:nvPr/>
        </p:nvGraphicFramePr>
        <p:xfrm>
          <a:off x="2834640" y="1005840"/>
          <a:ext cx="5851440" cy="3453480"/>
        </p:xfrm>
        <a:graphic>
          <a:graphicData uri="http://schemas.openxmlformats.org/drawingml/2006/table">
            <a:tbl>
              <a:tblPr/>
              <a:tblGrid>
                <a:gridCol w="1279800"/>
                <a:gridCol w="4572000"/>
              </a:tblGrid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Part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What it is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MCU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RA8P1, Arm Cortex-M85 at 1 GHz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NPU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Arm Ethos-U55, 256 MACs per cycle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Memory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MB MRAM code, 2 MB SRAM, 64 MB SDRAM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Storage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64 MB OSPI flash: credentials and the model slot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Network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Gigabit Ethernet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Camera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OV5640 over MIPI CSI-2, 55 fps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Display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7-inch parallel LCD, optional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Debug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On-board J-Link; USB-C DEBUG1 is also the console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42" name="TextBox 9002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D9A1662-F81B-40B2-9A50-59A9558BDBD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Lab Title"/>
          <p:cNvSpPr/>
          <p:nvPr/>
        </p:nvSpPr>
        <p:spPr>
          <a:xfrm>
            <a:off x="646560" y="1548000"/>
            <a:ext cx="7200000" cy="15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2800" b="0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Open /IOTCONNECT Dashboard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1: Hardware Connections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5" name="Step Text"/>
          <p:cNvSpPr/>
          <p:nvPr/>
        </p:nvSpPr>
        <p:spPr>
          <a:xfrm>
            <a:off x="457200" y="2326680"/>
            <a:ext cx="345600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Plug the Ethernet cable into the board's Ethernet port.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plug the USB-C cable into the board's DEBUG1 port and a USB port on your laptop.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6" name="wire-connections.png" descr="wire-connections.png"/>
          <p:cNvPicPr/>
          <p:nvPr/>
        </p:nvPicPr>
        <p:blipFill>
          <a:blip r:embed="rId1"/>
          <a:stretch/>
        </p:blipFill>
        <p:spPr>
          <a:xfrm>
            <a:off x="4186800" y="1144800"/>
            <a:ext cx="4500000" cy="33444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47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A4FAD00-84AD-4928-B9C4-A7D8EDE63D61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2: Connect to the Serial Console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9" name="Step Text"/>
          <p:cNvSpPr/>
          <p:nvPr/>
        </p:nvSpPr>
        <p:spPr>
          <a:xfrm>
            <a:off x="457200" y="1423080"/>
            <a:ext cx="3816000" cy="20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the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Chrome Labs Serial Terminal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 Chrome or Edge and enter the settings on the right.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choose the board's port (its name includes J-Link or USB Serial), then click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 the pop-up.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Within a few seconds the console shows a processing report every 5 seconds (camera, AI and display timing) and lines starting with IOTC: confirming the board is connected.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ettings Label"/>
          <p:cNvSpPr/>
          <p:nvPr/>
        </p:nvSpPr>
        <p:spPr>
          <a:xfrm>
            <a:off x="4572000" y="1055880"/>
            <a:ext cx="4114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SERIAL SETTINGS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ettings Panel"/>
          <p:cNvSpPr/>
          <p:nvPr/>
        </p:nvSpPr>
        <p:spPr>
          <a:xfrm>
            <a:off x="4572000" y="1302840"/>
            <a:ext cx="4114800" cy="1350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2" name="Settings"/>
          <p:cNvSpPr/>
          <p:nvPr/>
        </p:nvSpPr>
        <p:spPr>
          <a:xfrm>
            <a:off x="4700160" y="1373760"/>
            <a:ext cx="3862800" cy="9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Baud rate        </a:t>
            </a:r>
            <a:r>
              <a:rPr lang="en-US" sz="850" b="1" u="none" strike="noStrike">
                <a:solidFill>
                  <a:srgbClr val="41C363"/>
                </a:solidFill>
                <a:effectLst/>
                <a:uFillTx/>
                <a:latin typeface="Courier New"/>
              </a:rPr>
              <a:t>230400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Data bits        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Parity           None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Stop bits       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Flow control     Off (unticked)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Convert EOL      </a:t>
            </a:r>
            <a:r>
              <a:rPr lang="en-US" sz="850" b="1" u="none" strike="noStrike">
                <a:solidFill>
                  <a:srgbClr val="41C363"/>
                </a:solidFill>
                <a:effectLst/>
                <a:uFillTx/>
                <a:latin typeface="Courier New"/>
              </a:rPr>
              <a:t>On (ticked)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Output Label"/>
          <p:cNvSpPr/>
          <p:nvPr/>
        </p:nvSpPr>
        <p:spPr>
          <a:xfrm>
            <a:off x="4572000" y="2759760"/>
            <a:ext cx="4114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WHAT YOU SHOULD SEE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Output Panel"/>
          <p:cNvSpPr/>
          <p:nvPr/>
        </p:nvSpPr>
        <p:spPr>
          <a:xfrm>
            <a:off x="4572000" y="3006720"/>
            <a:ext cx="4114800" cy="918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5" name="Output"/>
          <p:cNvSpPr/>
          <p:nvPr/>
        </p:nvSpPr>
        <p:spPr>
          <a:xfrm>
            <a:off x="4700160" y="3076560"/>
            <a:ext cx="386280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Processing time: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  Camera image capture vsync period :  18 ms,  55 fps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  AI inference time (Ethos-U55)     :   0 us,   0 fps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IOTC: hb up=95 netbuf=16 heap=181360 </a:t>
            </a:r>
            <a:r>
              <a:rPr lang="en-US" sz="850" b="1" u="none" strike="noStrike">
                <a:solidFill>
                  <a:srgbClr val="41C363"/>
                </a:solidFill>
                <a:effectLst/>
                <a:uFillTx/>
                <a:latin typeface="Courier New"/>
              </a:rPr>
              <a:t>conn=1</a:t>
            </a: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 sent=6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Dashboard Notice"/>
          <p:cNvSpPr/>
          <p:nvPr/>
        </p:nvSpPr>
        <p:spPr>
          <a:xfrm>
            <a:off x="457200" y="4109760"/>
            <a:ext cx="8229240" cy="468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If you see no output, or the text is garbled, please raise your hand for assistance.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Dashboard Notice Accent"/>
          <p:cNvSpPr/>
          <p:nvPr/>
        </p:nvSpPr>
        <p:spPr>
          <a:xfrm>
            <a:off x="457200" y="4109760"/>
            <a:ext cx="90000" cy="468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9626D20-9F7B-475F-AC5F-887C11410F6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3: /IOTCONNECT Login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0" name="Step Text"/>
          <p:cNvSpPr/>
          <p:nvPr/>
        </p:nvSpPr>
        <p:spPr>
          <a:xfrm>
            <a:off x="457200" y="2450880"/>
            <a:ext cx="374400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your browser, go to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console.iotconnect.io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 in to /IOTCONNECT with the username and password on your seat card.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1" name="iotc-url.png" descr="iotc-url.png"/>
          <p:cNvPicPr/>
          <p:nvPr/>
        </p:nvPicPr>
        <p:blipFill>
          <a:blip r:embed="rId1"/>
          <a:stretch/>
        </p:blipFill>
        <p:spPr>
          <a:xfrm>
            <a:off x="4680000" y="1212840"/>
            <a:ext cx="2880000" cy="62136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pic>
        <p:nvPicPr>
          <p:cNvPr id="562" name="iotc-login.png" descr="iotc-login.png"/>
          <p:cNvPicPr/>
          <p:nvPr/>
        </p:nvPicPr>
        <p:blipFill>
          <a:blip r:embed="rId2"/>
          <a:stretch/>
        </p:blipFill>
        <p:spPr>
          <a:xfrm>
            <a:off x="4680000" y="2076840"/>
            <a:ext cx="3996000" cy="237996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63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36CAB36-134E-4F9B-B5C6-94427267BD6F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4: Open the /IOTCONNECT Dashboard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5" name="Step Text"/>
          <p:cNvSpPr/>
          <p:nvPr/>
        </p:nvSpPr>
        <p:spPr>
          <a:xfrm>
            <a:off x="457200" y="2237760"/>
            <a:ext cx="3204000" cy="11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Dashboards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 the toolbar at the top of /IOTCONNECT.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the dashboard titled "EK-RA8P1 User N", where N is the user number on your seat card.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6" name="open-dash.png" descr="open-dash.png"/>
          <p:cNvPicPr/>
          <p:nvPr/>
        </p:nvPicPr>
        <p:blipFill>
          <a:blip r:embed="rId1"/>
          <a:stretch/>
        </p:blipFill>
        <p:spPr>
          <a:xfrm>
            <a:off x="3826800" y="1522080"/>
            <a:ext cx="4860000" cy="262548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67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4B5C86C-6351-46DA-8657-E542A44AD5C5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Expected Dashboard State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69" name="expected-dash.png" descr="expected-dash.png"/>
          <p:cNvPicPr/>
          <p:nvPr/>
        </p:nvPicPr>
        <p:blipFill>
          <a:blip r:embed="rId1"/>
          <a:stretch/>
        </p:blipFill>
        <p:spPr>
          <a:xfrm>
            <a:off x="1704600" y="918000"/>
            <a:ext cx="5735160" cy="3222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70" name="Dashboard Notice"/>
          <p:cNvSpPr/>
          <p:nvPr/>
        </p:nvSpPr>
        <p:spPr>
          <a:xfrm>
            <a:off x="457200" y="4248000"/>
            <a:ext cx="8229240" cy="468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If your dashboard does not look like this, please raise your hand for assistance.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Dashboard Notice Accent"/>
          <p:cNvSpPr/>
          <p:nvPr/>
        </p:nvSpPr>
        <p:spPr>
          <a:xfrm>
            <a:off x="457200" y="4248000"/>
            <a:ext cx="90000" cy="468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EC6000E-141D-4236-B0D9-FB84B76868DA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Lab Title"/>
          <p:cNvSpPr/>
          <p:nvPr/>
        </p:nvSpPr>
        <p:spPr>
          <a:xfrm>
            <a:off x="646560" y="1548000"/>
            <a:ext cx="7200000" cy="15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2800" b="0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First AI Model Deployment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1: Deploy the Face Detect Model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5" name="Panel 1"/>
          <p:cNvSpPr/>
          <p:nvPr/>
        </p:nvSpPr>
        <p:spPr>
          <a:xfrm>
            <a:off x="457200" y="952920"/>
            <a:ext cx="2844000" cy="31532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anel 2"/>
          <p:cNvSpPr/>
          <p:nvPr/>
        </p:nvSpPr>
        <p:spPr>
          <a:xfrm>
            <a:off x="3409200" y="952920"/>
            <a:ext cx="5277600" cy="13341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anel 3"/>
          <p:cNvSpPr/>
          <p:nvPr/>
        </p:nvSpPr>
        <p:spPr>
          <a:xfrm>
            <a:off x="3409200" y="2395080"/>
            <a:ext cx="3564000" cy="2286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anel 4"/>
          <p:cNvSpPr/>
          <p:nvPr/>
        </p:nvSpPr>
        <p:spPr>
          <a:xfrm>
            <a:off x="7081200" y="2395080"/>
            <a:ext cx="1605600" cy="12088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ub-step 1"/>
          <p:cNvSpPr/>
          <p:nvPr/>
        </p:nvSpPr>
        <p:spPr>
          <a:xfrm>
            <a:off x="529200" y="1024920"/>
            <a:ext cx="270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Hover over the blocks icon in the left-hand toolbar, then click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Push Model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0" name="open-ai-models.png" descr="open-ai-models.png"/>
          <p:cNvPicPr/>
          <p:nvPr/>
        </p:nvPicPr>
        <p:blipFill>
          <a:blip r:embed="rId1"/>
          <a:stretch/>
        </p:blipFill>
        <p:spPr>
          <a:xfrm>
            <a:off x="943200" y="1791720"/>
            <a:ext cx="1872000" cy="220644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81" name="Sub-step 2"/>
          <p:cNvSpPr/>
          <p:nvPr/>
        </p:nvSpPr>
        <p:spPr>
          <a:xfrm>
            <a:off x="3481200" y="1006920"/>
            <a:ext cx="51480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2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 RA8P1 Face Detect for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Version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fills in as 1.0), RA8P1 Vision AI for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Template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then click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Selected devices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2" name="deploy-settings.png" descr="deploy-settings.png"/>
          <p:cNvPicPr/>
          <p:nvPr/>
        </p:nvPicPr>
        <p:blipFill>
          <a:blip r:embed="rId2"/>
          <a:stretch/>
        </p:blipFill>
        <p:spPr>
          <a:xfrm>
            <a:off x="3517200" y="1510920"/>
            <a:ext cx="5061600" cy="66816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83" name="Sub-step 3"/>
          <p:cNvSpPr/>
          <p:nvPr/>
        </p:nvSpPr>
        <p:spPr>
          <a:xfrm>
            <a:off x="3481200" y="2449080"/>
            <a:ext cx="34200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3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 Device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check the box next to your device's unique ID, then click Save.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4" name="select-device.png" descr="select-device.png"/>
          <p:cNvPicPr/>
          <p:nvPr/>
        </p:nvPicPr>
        <p:blipFill>
          <a:blip r:embed="rId3"/>
          <a:stretch/>
        </p:blipFill>
        <p:spPr>
          <a:xfrm>
            <a:off x="4340160" y="2989080"/>
            <a:ext cx="1701720" cy="1584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85" name="Sub-step 4"/>
          <p:cNvSpPr/>
          <p:nvPr/>
        </p:nvSpPr>
        <p:spPr>
          <a:xfrm>
            <a:off x="7153200" y="2449080"/>
            <a:ext cx="14760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4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the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Push Model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button.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6" name="push-model-button.png" descr="push-model-button.png"/>
          <p:cNvPicPr/>
          <p:nvPr/>
        </p:nvPicPr>
        <p:blipFill>
          <a:blip r:embed="rId4"/>
          <a:stretch/>
        </p:blipFill>
        <p:spPr>
          <a:xfrm>
            <a:off x="7416000" y="3002760"/>
            <a:ext cx="936000" cy="4932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87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EC1A5FA-EAE7-478D-A19C-7B81C17BD02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2: Verify the Model Hot-Swap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9" name="Panel 1"/>
          <p:cNvSpPr/>
          <p:nvPr/>
        </p:nvSpPr>
        <p:spPr>
          <a:xfrm>
            <a:off x="457200" y="972000"/>
            <a:ext cx="8229600" cy="6249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anel 2"/>
          <p:cNvSpPr/>
          <p:nvPr/>
        </p:nvSpPr>
        <p:spPr>
          <a:xfrm>
            <a:off x="457200" y="1704960"/>
            <a:ext cx="4536000" cy="2944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anel 3"/>
          <p:cNvSpPr/>
          <p:nvPr/>
        </p:nvSpPr>
        <p:spPr>
          <a:xfrm>
            <a:off x="5101200" y="1704960"/>
            <a:ext cx="3585600" cy="15076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anel 4"/>
          <p:cNvSpPr/>
          <p:nvPr/>
        </p:nvSpPr>
        <p:spPr>
          <a:xfrm>
            <a:off x="5101200" y="3320640"/>
            <a:ext cx="3585600" cy="802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ub-step 1"/>
          <p:cNvSpPr/>
          <p:nvPr/>
        </p:nvSpPr>
        <p:spPr>
          <a:xfrm>
            <a:off x="529200" y="1008000"/>
            <a:ext cx="808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your serial terminal, the push arrives within a second or two: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4" name="model-push.png" descr="model-push.png"/>
          <p:cNvPicPr/>
          <p:nvPr/>
        </p:nvPicPr>
        <p:blipFill>
          <a:blip r:embed="rId1"/>
          <a:stretch/>
        </p:blipFill>
        <p:spPr>
          <a:xfrm>
            <a:off x="565200" y="1332000"/>
            <a:ext cx="8013600" cy="15696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95" name="Sub-step 2"/>
          <p:cNvSpPr/>
          <p:nvPr/>
        </p:nvSpPr>
        <p:spPr>
          <a:xfrm>
            <a:off x="529200" y="1758960"/>
            <a:ext cx="4392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2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 the next 10–30 seconds the board downloads the model, checks it and swaps it in. It is ready when the last line reads FD: model "face-v3" v3 … loaded.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model-info.png" descr="model-info.png"/>
          <p:cNvPicPr/>
          <p:nvPr/>
        </p:nvPicPr>
        <p:blipFill>
          <a:blip r:embed="rId2"/>
          <a:stretch/>
        </p:blipFill>
        <p:spPr>
          <a:xfrm>
            <a:off x="1447560" y="2525760"/>
            <a:ext cx="2555280" cy="2016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597" name="Sub-step 3"/>
          <p:cNvSpPr/>
          <p:nvPr/>
        </p:nvSpPr>
        <p:spPr>
          <a:xfrm>
            <a:off x="5173200" y="1758960"/>
            <a:ext cx="3441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3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LCD, the Model line changes from none v0 to face-v3 v3.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LCD Panel"/>
          <p:cNvSpPr/>
          <p:nvPr/>
        </p:nvSpPr>
        <p:spPr>
          <a:xfrm>
            <a:off x="5400000" y="2312640"/>
            <a:ext cx="2988000" cy="792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99" name="LCD Lines"/>
          <p:cNvSpPr/>
          <p:nvPr/>
        </p:nvSpPr>
        <p:spPr>
          <a:xfrm>
            <a:off x="5526000" y="2420640"/>
            <a:ext cx="27360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Model: none v0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↓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Model: face-v3 v3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ub-step 4"/>
          <p:cNvSpPr/>
          <p:nvPr/>
        </p:nvSpPr>
        <p:spPr>
          <a:xfrm>
            <a:off x="5173200" y="3374640"/>
            <a:ext cx="3441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4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 your face in front of the camera. The board should recognize your face right away and draw a green bounding box around 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CCB1CDD-80DB-48EE-838C-E83DEB037865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3: Capture a Snapshot from the Dashboard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3" name="Panel 1"/>
          <p:cNvSpPr/>
          <p:nvPr/>
        </p:nvSpPr>
        <p:spPr>
          <a:xfrm>
            <a:off x="457200" y="1022040"/>
            <a:ext cx="4042800" cy="279612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anel 2"/>
          <p:cNvSpPr/>
          <p:nvPr/>
        </p:nvSpPr>
        <p:spPr>
          <a:xfrm>
            <a:off x="4644000" y="1022040"/>
            <a:ext cx="4042800" cy="358992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ub-step 1"/>
          <p:cNvSpPr/>
          <p:nvPr/>
        </p:nvSpPr>
        <p:spPr>
          <a:xfrm>
            <a:off x="529200" y="1094040"/>
            <a:ext cx="388800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back to your /IOTCONNECT dashboard.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 your face in front of the camera and press the green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Take Snapshot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button near the bottom right of the dashboard.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6" name="take-snapshot.png" descr="take-snapshot.png"/>
          <p:cNvPicPr/>
          <p:nvPr/>
        </p:nvPicPr>
        <p:blipFill>
          <a:blip r:embed="rId1"/>
          <a:stretch/>
        </p:blipFill>
        <p:spPr>
          <a:xfrm>
            <a:off x="984600" y="2163240"/>
            <a:ext cx="2988000" cy="154692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607" name="Sub-step 3"/>
          <p:cNvSpPr/>
          <p:nvPr/>
        </p:nvSpPr>
        <p:spPr>
          <a:xfrm>
            <a:off x="4716000" y="1094040"/>
            <a:ext cx="388800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3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Within about 30 seconds the board uploads the photo to /IOTCONNECT, and the </a:t>
            </a: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Latest Snapshot</a:t>
            </a: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widget shows it with the green box drawn around your face.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8" name="latest-snapshot.png" descr="latest-snapshot.png"/>
          <p:cNvPicPr/>
          <p:nvPr/>
        </p:nvPicPr>
        <p:blipFill>
          <a:blip r:embed="rId2"/>
          <a:stretch/>
        </p:blipFill>
        <p:spPr>
          <a:xfrm>
            <a:off x="5508360" y="2073960"/>
            <a:ext cx="2314440" cy="2430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609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63F0055-D960-4FA0-A428-8C0B8B4931D8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Lab Title"/>
          <p:cNvSpPr/>
          <p:nvPr/>
        </p:nvSpPr>
        <p:spPr>
          <a:xfrm>
            <a:off x="646560" y="1548000"/>
            <a:ext cx="7200000" cy="15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2800" b="0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Deploying and Hot-Swapping More Models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1: Deploy an Image Classification Model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2" name="Panel 1"/>
          <p:cNvSpPr/>
          <p:nvPr/>
        </p:nvSpPr>
        <p:spPr>
          <a:xfrm>
            <a:off x="457200" y="1110600"/>
            <a:ext cx="4042800" cy="802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anel 2"/>
          <p:cNvSpPr/>
          <p:nvPr/>
        </p:nvSpPr>
        <p:spPr>
          <a:xfrm>
            <a:off x="4644000" y="1110600"/>
            <a:ext cx="4042800" cy="802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anel 3"/>
          <p:cNvSpPr/>
          <p:nvPr/>
        </p:nvSpPr>
        <p:spPr>
          <a:xfrm>
            <a:off x="457200" y="2021400"/>
            <a:ext cx="4042800" cy="13816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anel 4"/>
          <p:cNvSpPr/>
          <p:nvPr/>
        </p:nvSpPr>
        <p:spPr>
          <a:xfrm>
            <a:off x="4644000" y="2021400"/>
            <a:ext cx="4042800" cy="2502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ub-step 1"/>
          <p:cNvSpPr/>
          <p:nvPr/>
        </p:nvSpPr>
        <p:spPr>
          <a:xfrm>
            <a:off x="529200" y="1164600"/>
            <a:ext cx="389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Return to the Push Model page and use the same settings as before, but choose RA8P1 ImageNet Classifier v2 for Model.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ub-step 2"/>
          <p:cNvSpPr/>
          <p:nvPr/>
        </p:nvSpPr>
        <p:spPr>
          <a:xfrm>
            <a:off x="4716000" y="1164600"/>
            <a:ext cx="389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2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model is about 7× the size of the face detector, so the download and swap take one to two minutes. Watch the serial console for the model info stream.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ub-step 3"/>
          <p:cNvSpPr/>
          <p:nvPr/>
        </p:nvSpPr>
        <p:spPr>
          <a:xfrm>
            <a:off x="529200" y="2075400"/>
            <a:ext cx="3898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3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the swap completes, the Model line on the LCD changes to mobilenet-v2 v1.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LCD Panel 1"/>
          <p:cNvSpPr/>
          <p:nvPr/>
        </p:nvSpPr>
        <p:spPr>
          <a:xfrm>
            <a:off x="673200" y="2629080"/>
            <a:ext cx="3610800" cy="666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0" name="LCD Lines 1"/>
          <p:cNvSpPr/>
          <p:nvPr/>
        </p:nvSpPr>
        <p:spPr>
          <a:xfrm>
            <a:off x="799200" y="2683080"/>
            <a:ext cx="3358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Model: face-v3 v3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↓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Model: mobilenet-v2 v1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ub-step 4"/>
          <p:cNvSpPr/>
          <p:nvPr/>
        </p:nvSpPr>
        <p:spPr>
          <a:xfrm>
            <a:off x="4716000" y="2075400"/>
            <a:ext cx="389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4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 on your dashboard, the NPU Inference Time chart (bottom left) jumps from about 6 ms to about 40 ms as the larger model takes over.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2" name="inference-time-jump.png" descr="inference-time-jump.png"/>
          <p:cNvPicPr/>
          <p:nvPr/>
        </p:nvPicPr>
        <p:blipFill>
          <a:blip r:embed="rId1"/>
          <a:stretch/>
        </p:blipFill>
        <p:spPr>
          <a:xfrm>
            <a:off x="5661360" y="2831400"/>
            <a:ext cx="2008440" cy="1584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623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6C05979-2D53-415E-975D-CAD1AE5D68D1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2: Deploy the Person Detect Model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5" name="Panel 1"/>
          <p:cNvSpPr/>
          <p:nvPr/>
        </p:nvSpPr>
        <p:spPr>
          <a:xfrm>
            <a:off x="457200" y="1389600"/>
            <a:ext cx="4042800" cy="802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anel 2"/>
          <p:cNvSpPr/>
          <p:nvPr/>
        </p:nvSpPr>
        <p:spPr>
          <a:xfrm>
            <a:off x="4644000" y="1389600"/>
            <a:ext cx="4042800" cy="13816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anel 3"/>
          <p:cNvSpPr/>
          <p:nvPr/>
        </p:nvSpPr>
        <p:spPr>
          <a:xfrm>
            <a:off x="457200" y="2300400"/>
            <a:ext cx="4042800" cy="1944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anel 4"/>
          <p:cNvSpPr/>
          <p:nvPr/>
        </p:nvSpPr>
        <p:spPr>
          <a:xfrm>
            <a:off x="4644000" y="2879280"/>
            <a:ext cx="4042800" cy="5896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ub-step 1"/>
          <p:cNvSpPr/>
          <p:nvPr/>
        </p:nvSpPr>
        <p:spPr>
          <a:xfrm>
            <a:off x="529200" y="1443600"/>
            <a:ext cx="3898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Push Model page, use the same settings again and choose RA8P1 Person Detect. It is the smallest model, so it arrives much faster.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ub-step 2"/>
          <p:cNvSpPr/>
          <p:nvPr/>
        </p:nvSpPr>
        <p:spPr>
          <a:xfrm>
            <a:off x="4716000" y="1443600"/>
            <a:ext cx="3898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2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the swap, the Model line on the LCD changes to person-detec v2.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LCD Panel 2"/>
          <p:cNvSpPr/>
          <p:nvPr/>
        </p:nvSpPr>
        <p:spPr>
          <a:xfrm>
            <a:off x="4860000" y="1997280"/>
            <a:ext cx="3610800" cy="666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32" name="LCD Lines 2"/>
          <p:cNvSpPr/>
          <p:nvPr/>
        </p:nvSpPr>
        <p:spPr>
          <a:xfrm>
            <a:off x="4986000" y="2051280"/>
            <a:ext cx="3358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Model: mobilenet-v2 v1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↓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Model: person-detec v2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ub-step 3"/>
          <p:cNvSpPr/>
          <p:nvPr/>
        </p:nvSpPr>
        <p:spPr>
          <a:xfrm>
            <a:off x="529200" y="2354400"/>
            <a:ext cx="389880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3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Hold the board out with the camera facing you: Class changes from no person to person. Score shows the model's confidence, and inference takes about 1.5 ms.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LCD Panel 3"/>
          <p:cNvSpPr/>
          <p:nvPr/>
        </p:nvSpPr>
        <p:spPr>
          <a:xfrm>
            <a:off x="673200" y="3308400"/>
            <a:ext cx="3610800" cy="828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35" name="LCD Lines 3"/>
          <p:cNvSpPr/>
          <p:nvPr/>
        </p:nvSpPr>
        <p:spPr>
          <a:xfrm>
            <a:off x="799200" y="3362400"/>
            <a:ext cx="3358800" cy="6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Class: no person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↓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Class: person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Score: 95%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ub-step 4"/>
          <p:cNvSpPr/>
          <p:nvPr/>
        </p:nvSpPr>
        <p:spPr>
          <a:xfrm>
            <a:off x="4716000" y="2933280"/>
            <a:ext cx="3898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4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your dashboard, the same NPU Inference Time chart drops to about 1.5 ms.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4F83320-CB10-4386-9A91-80FA219EF84E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3: Validate Model Persists Upon Reboot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9" name="Panel 1"/>
          <p:cNvSpPr/>
          <p:nvPr/>
        </p:nvSpPr>
        <p:spPr>
          <a:xfrm>
            <a:off x="457200" y="1626480"/>
            <a:ext cx="2647080" cy="16970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anel 2"/>
          <p:cNvSpPr/>
          <p:nvPr/>
        </p:nvSpPr>
        <p:spPr>
          <a:xfrm>
            <a:off x="3248280" y="1626480"/>
            <a:ext cx="2647080" cy="802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anel 3"/>
          <p:cNvSpPr/>
          <p:nvPr/>
        </p:nvSpPr>
        <p:spPr>
          <a:xfrm>
            <a:off x="6039360" y="1626480"/>
            <a:ext cx="2647080" cy="1432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ub-step 1"/>
          <p:cNvSpPr/>
          <p:nvPr/>
        </p:nvSpPr>
        <p:spPr>
          <a:xfrm>
            <a:off x="529200" y="1680480"/>
            <a:ext cx="25030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LCD, Source reads cloud: the model came from /IOTCONNECT and was plugged straight into the running application.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LCD Panel 5"/>
          <p:cNvSpPr/>
          <p:nvPr/>
        </p:nvSpPr>
        <p:spPr>
          <a:xfrm>
            <a:off x="673200" y="2873520"/>
            <a:ext cx="2215080" cy="342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44" name="LCD Lines 5"/>
          <p:cNvSpPr/>
          <p:nvPr/>
        </p:nvSpPr>
        <p:spPr>
          <a:xfrm>
            <a:off x="799200" y="2927520"/>
            <a:ext cx="19630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Source: cloud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ub-step 2"/>
          <p:cNvSpPr/>
          <p:nvPr/>
        </p:nvSpPr>
        <p:spPr>
          <a:xfrm>
            <a:off x="3320280" y="1680480"/>
            <a:ext cx="250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2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Unplug the USB-C cable from the board, wait 3 seconds, then plug it back in.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ub-step 3"/>
          <p:cNvSpPr/>
          <p:nvPr/>
        </p:nvSpPr>
        <p:spPr>
          <a:xfrm>
            <a:off x="6111360" y="1680480"/>
            <a:ext cx="250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3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the LCD comes back, Source reads flash and Model still reads person-detec v2.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LCD Panel 6"/>
          <p:cNvSpPr/>
          <p:nvPr/>
        </p:nvSpPr>
        <p:spPr>
          <a:xfrm>
            <a:off x="6255360" y="2447280"/>
            <a:ext cx="2215080" cy="504000"/>
          </a:xfrm>
          <a:prstGeom prst="rect">
            <a:avLst/>
          </a:prstGeom>
          <a:solidFill>
            <a:srgbClr val="1E22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48" name="LCD Lines 6"/>
          <p:cNvSpPr/>
          <p:nvPr/>
        </p:nvSpPr>
        <p:spPr>
          <a:xfrm>
            <a:off x="6381360" y="2501280"/>
            <a:ext cx="1963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Model: person-detec v2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99"/>
              </a:spcAft>
            </a:pPr>
            <a:r>
              <a:rPr lang="en-US" sz="850" b="0" u="none" strike="noStrike">
                <a:solidFill>
                  <a:srgbClr val="EAEEF0"/>
                </a:solidFill>
                <a:effectLst/>
                <a:uFillTx/>
                <a:latin typeface="Courier New"/>
              </a:rPr>
              <a:t>Source: flash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Dashboard Notice"/>
          <p:cNvSpPr/>
          <p:nvPr/>
        </p:nvSpPr>
        <p:spPr>
          <a:xfrm>
            <a:off x="457200" y="3467520"/>
            <a:ext cx="8229240" cy="540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The model was hot-swapped into the running application and also saved to non-volatile flash, so it stays active through a power cycle.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Dashboard Notice Accent"/>
          <p:cNvSpPr/>
          <p:nvPr/>
        </p:nvSpPr>
        <p:spPr>
          <a:xfrm>
            <a:off x="457200" y="3467520"/>
            <a:ext cx="90000" cy="540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0A6E9FC-AB0D-4E5E-87AB-CFAAC0912BD1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ab Title"/>
          <p:cNvSpPr/>
          <p:nvPr/>
        </p:nvSpPr>
        <p:spPr>
          <a:xfrm>
            <a:off x="646560" y="1548000"/>
            <a:ext cx="7200000" cy="15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 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2800" b="0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Live Video with KVS WebRTC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 Watch Live Video?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4" name="Callout"/>
          <p:cNvSpPr/>
          <p:nvPr/>
        </p:nvSpPr>
        <p:spPr>
          <a:xfrm>
            <a:off x="457560" y="1323000"/>
            <a:ext cx="8229240" cy="792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00000"/>
              </a:lnSpc>
              <a:spcAft>
                <a:spcPts val="283"/>
              </a:spcAft>
            </a:pPr>
            <a:r>
              <a:rPr lang="en-US" sz="1100" b="1" u="none" spc="142" strike="noStrike">
                <a:solidFill>
                  <a:srgbClr val="368748"/>
                </a:solidFill>
                <a:effectLst/>
                <a:uFillTx/>
                <a:latin typeface="Arial"/>
              </a:rPr>
              <a:t>SEE IT FOR YOURSELF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6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Alerts tell you what the model detected. Live video lets you see it yourself, to validate the inference or decide your next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Callout Accent"/>
          <p:cNvSpPr/>
          <p:nvPr/>
        </p:nvSpPr>
        <p:spPr>
          <a:xfrm>
            <a:off x="457560" y="1323000"/>
            <a:ext cx="90000" cy="792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Card 1"/>
          <p:cNvSpPr/>
          <p:nvPr/>
        </p:nvSpPr>
        <p:spPr>
          <a:xfrm>
            <a:off x="457200" y="2259000"/>
            <a:ext cx="2647080" cy="2052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7" name="Card 1 Title"/>
          <p:cNvSpPr/>
          <p:nvPr/>
        </p:nvSpPr>
        <p:spPr>
          <a:xfrm>
            <a:off x="585360" y="2387160"/>
            <a:ext cx="2377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Low Latency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Card 1 Body"/>
          <p:cNvSpPr/>
          <p:nvPr/>
        </p:nvSpPr>
        <p:spPr>
          <a:xfrm>
            <a:off x="585360" y="2698200"/>
            <a:ext cx="2391480" cy="14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Peer-to-peer WebRTC: video goes straight from the board to your browser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cloud recording or transcoding in the path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Video appears within seconds of clicking Start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Card 2"/>
          <p:cNvSpPr/>
          <p:nvPr/>
        </p:nvSpPr>
        <p:spPr>
          <a:xfrm>
            <a:off x="3248280" y="2259000"/>
            <a:ext cx="2647080" cy="2052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60" name="Card 2 Title"/>
          <p:cNvSpPr/>
          <p:nvPr/>
        </p:nvSpPr>
        <p:spPr>
          <a:xfrm>
            <a:off x="3376440" y="2387160"/>
            <a:ext cx="2377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Secure Anywhere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Card 2 Body"/>
          <p:cNvSpPr/>
          <p:nvPr/>
        </p:nvSpPr>
        <p:spPr>
          <a:xfrm>
            <a:off x="3376440" y="2698200"/>
            <a:ext cx="2391480" cy="14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Encrypted end to end with </a:t>
            </a: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DTLS-SRTP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ICE, STUN and TURN get through NAT and firewalls, with no port forwarding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Signaling channel created automatically by /IOTCONNECT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Card 3"/>
          <p:cNvSpPr/>
          <p:nvPr/>
        </p:nvSpPr>
        <p:spPr>
          <a:xfrm>
            <a:off x="6039360" y="2259000"/>
            <a:ext cx="2647080" cy="2052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63" name="Card 3 Title"/>
          <p:cNvSpPr/>
          <p:nvPr/>
        </p:nvSpPr>
        <p:spPr>
          <a:xfrm>
            <a:off x="6167520" y="2387160"/>
            <a:ext cx="2377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Efficient on an MCU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Card 3 Body"/>
          <p:cNvSpPr/>
          <p:nvPr/>
        </p:nvSpPr>
        <p:spPr>
          <a:xfrm>
            <a:off x="6167520" y="2698200"/>
            <a:ext cx="2391480" cy="14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H.264 encoded in software on the Cortex-M85: </a:t>
            </a: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320×240 at 8–10 fps, ~500 kbit/s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Encodes only while someone is watching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Inference and telemetry keep running during the stream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EB5A8D4-61EF-4946-999F-5170C6747C25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1: Preview the Stream on Your Dashboard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7" name="Panel 1"/>
          <p:cNvSpPr/>
          <p:nvPr/>
        </p:nvSpPr>
        <p:spPr>
          <a:xfrm>
            <a:off x="457200" y="1107000"/>
            <a:ext cx="8229600" cy="2736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ub-step 1"/>
          <p:cNvSpPr/>
          <p:nvPr/>
        </p:nvSpPr>
        <p:spPr>
          <a:xfrm>
            <a:off x="529200" y="1161000"/>
            <a:ext cx="40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quickest way to see the video is the Live Video Stream (KVS) widget on the dashboard you opened in Lab 1.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ub-step 2"/>
          <p:cNvSpPr/>
          <p:nvPr/>
        </p:nvSpPr>
        <p:spPr>
          <a:xfrm>
            <a:off x="529200" y="2295000"/>
            <a:ext cx="40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2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it for a quick glance: when telemetry or an alert reports a detection, check the preview to confirm what the model saw, from anywhere.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0" name="kvs-widget.png" descr="kvs-widget.png"/>
          <p:cNvPicPr/>
          <p:nvPr/>
        </p:nvPicPr>
        <p:blipFill>
          <a:blip r:embed="rId1"/>
          <a:stretch/>
        </p:blipFill>
        <p:spPr>
          <a:xfrm>
            <a:off x="4620600" y="1215000"/>
            <a:ext cx="3904200" cy="2520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671" name="Dashboard Notice"/>
          <p:cNvSpPr/>
          <p:nvPr/>
        </p:nvSpPr>
        <p:spPr>
          <a:xfrm>
            <a:off x="457200" y="3987000"/>
            <a:ext cx="8229240" cy="540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For a larger view of the same stream, open it from the device page in the next step.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Dashboard Notice Accent"/>
          <p:cNvSpPr/>
          <p:nvPr/>
        </p:nvSpPr>
        <p:spPr>
          <a:xfrm>
            <a:off x="457200" y="3987000"/>
            <a:ext cx="90000" cy="540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898E577-B439-4861-B543-B409ADF500A2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2: Full-Screen View on the Device Page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5" name="Panel 1"/>
          <p:cNvSpPr/>
          <p:nvPr/>
        </p:nvSpPr>
        <p:spPr>
          <a:xfrm>
            <a:off x="457200" y="972000"/>
            <a:ext cx="2647080" cy="30196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anel 2"/>
          <p:cNvSpPr/>
          <p:nvPr/>
        </p:nvSpPr>
        <p:spPr>
          <a:xfrm>
            <a:off x="3248280" y="972000"/>
            <a:ext cx="2647080" cy="22680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anel 3"/>
          <p:cNvSpPr/>
          <p:nvPr/>
        </p:nvSpPr>
        <p:spPr>
          <a:xfrm>
            <a:off x="6039360" y="972000"/>
            <a:ext cx="2647080" cy="23007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ub-step 1"/>
          <p:cNvSpPr/>
          <p:nvPr/>
        </p:nvSpPr>
        <p:spPr>
          <a:xfrm>
            <a:off x="529200" y="1026000"/>
            <a:ext cx="25030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Hover over the processor icon in the left toolbar, then click Device.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9" name="device-page.png" descr="device-page.png"/>
          <p:cNvPicPr/>
          <p:nvPr/>
        </p:nvPicPr>
        <p:blipFill>
          <a:blip r:embed="rId1"/>
          <a:stretch/>
        </p:blipFill>
        <p:spPr>
          <a:xfrm>
            <a:off x="1131480" y="1548000"/>
            <a:ext cx="1298880" cy="1800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680" name="Sub-step 2"/>
          <p:cNvSpPr/>
          <p:nvPr/>
        </p:nvSpPr>
        <p:spPr>
          <a:xfrm>
            <a:off x="529200" y="3456000"/>
            <a:ext cx="25030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2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your device's unique ID to open its device page.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ub-step 3"/>
          <p:cNvSpPr/>
          <p:nvPr/>
        </p:nvSpPr>
        <p:spPr>
          <a:xfrm>
            <a:off x="3320280" y="1026000"/>
            <a:ext cx="25030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3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the Video Streaming tab.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2" name="video-streaming.png" descr="video-streaming.png"/>
          <p:cNvPicPr/>
          <p:nvPr/>
        </p:nvPicPr>
        <p:blipFill>
          <a:blip r:embed="rId2"/>
          <a:stretch/>
        </p:blipFill>
        <p:spPr>
          <a:xfrm>
            <a:off x="3788280" y="1332000"/>
            <a:ext cx="1567440" cy="180000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683" name="Sub-step 4"/>
          <p:cNvSpPr/>
          <p:nvPr/>
        </p:nvSpPr>
        <p:spPr>
          <a:xfrm>
            <a:off x="6111360" y="1026000"/>
            <a:ext cx="250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46160" indent="-146160" defTabSz="914400">
              <a:lnSpc>
                <a:spcPct val="112000"/>
              </a:lnSpc>
              <a:spcAft>
                <a:spcPts val="700"/>
              </a:spcAft>
              <a:buClr>
                <a:srgbClr val="41C363"/>
              </a:buClr>
              <a:buFont typeface="OpenSymbol"/>
              <a:buAutoNum type="arabicPeriod" startAt="4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Start in the top-right corner. The same live stream opens in a large, nearly full-screen player.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4" name="start-stream.png" descr="start-stream.png"/>
          <p:cNvPicPr/>
          <p:nvPr/>
        </p:nvPicPr>
        <p:blipFill>
          <a:blip r:embed="rId3"/>
          <a:stretch/>
        </p:blipFill>
        <p:spPr>
          <a:xfrm>
            <a:off x="6283080" y="1792800"/>
            <a:ext cx="2160000" cy="1371960"/>
          </a:xfrm>
          <a:prstGeom prst="rect">
            <a:avLst/>
          </a:prstGeom>
          <a:noFill/>
          <a:ln w="19080">
            <a:solidFill>
              <a:srgbClr val="000000"/>
            </a:solidFill>
            <a:round/>
          </a:ln>
        </p:spPr>
      </p:pic>
      <p:sp>
        <p:nvSpPr>
          <p:cNvPr id="685" name="Dashboard Notice"/>
          <p:cNvSpPr/>
          <p:nvPr/>
        </p:nvSpPr>
        <p:spPr>
          <a:xfrm>
            <a:off x="3248280" y="3416760"/>
            <a:ext cx="5438160" cy="57492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“Start” opens a peer-to-peer WebRTC connection and becomes “Stop,” which ends the stream.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Dashboard Notice Accent"/>
          <p:cNvSpPr/>
          <p:nvPr/>
        </p:nvSpPr>
        <p:spPr>
          <a:xfrm>
            <a:off x="3248280" y="3416760"/>
            <a:ext cx="90000" cy="57492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Viewer Warning"/>
          <p:cNvSpPr/>
          <p:nvPr/>
        </p:nvSpPr>
        <p:spPr>
          <a:xfrm>
            <a:off x="457200" y="4135680"/>
            <a:ext cx="8229240" cy="540000"/>
          </a:xfrm>
          <a:prstGeom prst="rect">
            <a:avLst/>
          </a:prstGeom>
          <a:solidFill>
            <a:srgbClr val="FFF3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The provided firmware only supports 1 viewer connection, so you cannot have the dashboard and Video Streaming both open simultaneously.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Viewer Warning Accent"/>
          <p:cNvSpPr/>
          <p:nvPr/>
        </p:nvSpPr>
        <p:spPr>
          <a:xfrm>
            <a:off x="457200" y="4135680"/>
            <a:ext cx="90000" cy="540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9005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6A48E03-E23C-415B-8EA4-B96CD19490BE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Rectangle 2"/>
          <p:cNvSpPr/>
          <p:nvPr/>
        </p:nvSpPr>
        <p:spPr>
          <a:xfrm>
            <a:off x="549000" y="3291840"/>
            <a:ext cx="4023000" cy="868320"/>
          </a:xfrm>
          <a:prstGeom prst="rect">
            <a:avLst/>
          </a:prstGeom>
          <a:solidFill>
            <a:srgbClr val="41C36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AI Model Catalog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2" name="Table 1"/>
          <p:cNvGraphicFramePr/>
          <p:nvPr/>
        </p:nvGraphicFramePr>
        <p:xfrm>
          <a:off x="457200" y="1005840"/>
          <a:ext cx="8229240" cy="208656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1188720"/>
                <a:gridCol w="914400"/>
                <a:gridCol w="914400"/>
              </a:tblGrid>
              <a:tr h="34740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In AI Models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What the board becomes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Input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Inference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Size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4740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RA8P1 Face Detect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Face detector with boxes (YOLO Fastest)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192×192 gray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5.8 ms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441 KB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RA8P1 Person Detect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Occupancy sensor: person present or absent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96×96 gray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 ms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270 KB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4740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RA8P1 ImageNet Classifier 0.25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1000-class classifier, speed tier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224×224 RGB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4.5 ms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432 KB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RA8P1 ImageNet Classifier 0.5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1000-class classifier, mid tier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224×224 RGB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 ms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 MB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49920"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RA8P1 ImageNet Classifier v2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1000-class classifier, accuracy tier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224×224 RGB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 ms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tIns="27360" rIns="63720" bIns="2736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3.1 MB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3" name="TextBox 1"/>
          <p:cNvSpPr/>
          <p:nvPr/>
        </p:nvSpPr>
        <p:spPr>
          <a:xfrm>
            <a:off x="685800" y="3346560"/>
            <a:ext cx="3748680" cy="7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12000"/>
              </a:lnSpc>
            </a:pPr>
            <a:r>
              <a:rPr lang="en-US" sz="105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Camera Max FPS:</a:t>
            </a:r>
            <a:r>
              <a:rPr lang="en-US" sz="105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55 (new frame every 18ms)</a:t>
            </a:r>
            <a:endParaRPr lang="en-US" sz="1050" b="0" u="none" strike="noStrike">
              <a:solidFill>
                <a:srgbClr val="F2F2F2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</a:pPr>
            <a:r>
              <a:rPr lang="en-US" sz="105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Slowest Model FPS:</a:t>
            </a:r>
            <a:r>
              <a:rPr lang="en-US" sz="105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25</a:t>
            </a:r>
            <a:endParaRPr lang="en-US" sz="1050" b="0" u="none" strike="noStrike">
              <a:solidFill>
                <a:srgbClr val="F2F2F2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</a:pPr>
            <a:r>
              <a:rPr lang="en-US" sz="1050" b="1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Significance:</a:t>
            </a:r>
            <a:r>
              <a:rPr lang="en-US" sz="1050" b="0" u="none" strike="noStrike">
                <a:solidFill>
                  <a:srgbClr val="F2F2F2"/>
                </a:solidFill>
                <a:effectLst/>
                <a:uFillTx/>
                <a:latin typeface="Arial"/>
              </a:rPr>
              <a:t> Provided models never need more than ~2 frames to make their inferences. </a:t>
            </a:r>
            <a:endParaRPr lang="en-US" sz="1050" b="0" u="none" strike="noStrike">
              <a:solidFill>
                <a:srgbClr val="F2F2F2"/>
              </a:solidFill>
              <a:effectLst/>
              <a:uFillTx/>
              <a:latin typeface="Arial"/>
            </a:endParaRPr>
          </a:p>
        </p:txBody>
      </p:sp>
      <p:sp>
        <p:nvSpPr>
          <p:cNvPr id="694" name="Rectangle 1"/>
          <p:cNvSpPr/>
          <p:nvPr/>
        </p:nvSpPr>
        <p:spPr>
          <a:xfrm>
            <a:off x="4663800" y="3291840"/>
            <a:ext cx="4023000" cy="868320"/>
          </a:xfrm>
          <a:prstGeom prst="rect">
            <a:avLst/>
          </a:prstGeom>
          <a:solidFill>
            <a:srgbClr val="F2F2F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Box 2"/>
          <p:cNvSpPr/>
          <p:nvPr/>
        </p:nvSpPr>
        <p:spPr>
          <a:xfrm>
            <a:off x="4800600" y="3457080"/>
            <a:ext cx="374868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12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Classifier v2 is roughly seven times the face detector's size and workload. That is the one to push while you watch the inference chart.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Box 3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FEEC6BE-438B-49E6-9700-67580CB39BF1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 Takeaways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8" name="Takeaway 1"/>
          <p:cNvSpPr/>
          <p:nvPr/>
        </p:nvSpPr>
        <p:spPr>
          <a:xfrm>
            <a:off x="457200" y="1080000"/>
            <a:ext cx="3816000" cy="1080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99" name="Takeaway 1 Title"/>
          <p:cNvSpPr/>
          <p:nvPr/>
        </p:nvSpPr>
        <p:spPr>
          <a:xfrm>
            <a:off x="601200" y="1170000"/>
            <a:ext cx="3528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AI models are cloud-managed assets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akeaway 1 Body"/>
          <p:cNvSpPr/>
          <p:nvPr/>
        </p:nvSpPr>
        <p:spPr>
          <a:xfrm>
            <a:off x="601200" y="1422000"/>
            <a:ext cx="352800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1150" b="0" u="none" strike="noStrike">
                <a:solidFill>
                  <a:srgbClr val="5F6369"/>
                </a:solidFill>
                <a:effectLst/>
                <a:uFillTx/>
                <a:latin typeface="Arial"/>
              </a:rPr>
              <a:t>Deploy and update a model from /IOTCONNECT like any other data, to one board or a whole fleet, with no firmware rebuild or reflash.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akeaway 2"/>
          <p:cNvSpPr/>
          <p:nvPr/>
        </p:nvSpPr>
        <p:spPr>
          <a:xfrm>
            <a:off x="457200" y="2268000"/>
            <a:ext cx="3816000" cy="1080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2" name="Takeaway 2 Title"/>
          <p:cNvSpPr/>
          <p:nvPr/>
        </p:nvSpPr>
        <p:spPr>
          <a:xfrm>
            <a:off x="601200" y="2358000"/>
            <a:ext cx="3528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Vision AI belongs on the MCU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akeaway 2 Body"/>
          <p:cNvSpPr/>
          <p:nvPr/>
        </p:nvSpPr>
        <p:spPr>
          <a:xfrm>
            <a:off x="601200" y="2610000"/>
            <a:ext cx="352800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1150" b="0" u="none" strike="noStrike">
                <a:solidFill>
                  <a:srgbClr val="5F6369"/>
                </a:solidFill>
                <a:effectLst/>
                <a:uFillTx/>
                <a:latin typeface="Arial"/>
              </a:rPr>
              <a:t>The Cortex-M85 and Ethos-U55 run detection and classification in milliseconds, on one low-cost, low-power chip.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akeaway 3"/>
          <p:cNvSpPr/>
          <p:nvPr/>
        </p:nvSpPr>
        <p:spPr>
          <a:xfrm>
            <a:off x="457200" y="3456000"/>
            <a:ext cx="3816000" cy="1080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5" name="Takeaway 3 Title"/>
          <p:cNvSpPr/>
          <p:nvPr/>
        </p:nvSpPr>
        <p:spPr>
          <a:xfrm>
            <a:off x="601200" y="3546000"/>
            <a:ext cx="3528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Verify from anywhere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akeaway 3 Body"/>
          <p:cNvSpPr/>
          <p:nvPr/>
        </p:nvSpPr>
        <p:spPr>
          <a:xfrm>
            <a:off x="601200" y="3798000"/>
            <a:ext cx="352800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1150" b="0" u="none" strike="noStrike">
                <a:solidFill>
                  <a:srgbClr val="5F6369"/>
                </a:solidFill>
                <a:effectLst/>
                <a:uFillTx/>
                <a:latin typeface="Arial"/>
              </a:rPr>
              <a:t>Telemetry, snapshots and live WebRTC video let you check what the device saw and decide the next step remotely.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Example Panel"/>
          <p:cNvSpPr/>
          <p:nvPr/>
        </p:nvSpPr>
        <p:spPr>
          <a:xfrm>
            <a:off x="4417200" y="1314000"/>
            <a:ext cx="4269600" cy="2988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8" name="Example Label"/>
          <p:cNvSpPr/>
          <p:nvPr/>
        </p:nvSpPr>
        <p:spPr>
          <a:xfrm>
            <a:off x="4561200" y="1422000"/>
            <a:ext cx="39816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REAL-WORLD EXAMPLE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Example Title"/>
          <p:cNvSpPr/>
          <p:nvPr/>
        </p:nvSpPr>
        <p:spPr>
          <a:xfrm>
            <a:off x="4561200" y="1620000"/>
            <a:ext cx="3981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Smart Building Occupancy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Example Body"/>
          <p:cNvSpPr/>
          <p:nvPr/>
        </p:nvSpPr>
        <p:spPr>
          <a:xfrm>
            <a:off x="4561200" y="1944000"/>
            <a:ext cx="3981600" cy="16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Detect: </a:t>
            </a: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camera node in every meeting room runs person detection on its MCU and reports occupancy to /IOTCONNECT, driving lighting, HVAC and room booking.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Update: </a:t>
            </a: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a better model is trained, facilities pushes it to every node in the building overnight, with no site visits.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Verify: </a:t>
            </a: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room reports occupied after hours. The manager opens the live video to check before sending security.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Example Callout"/>
          <p:cNvSpPr/>
          <p:nvPr/>
        </p:nvSpPr>
        <p:spPr>
          <a:xfrm>
            <a:off x="4561200" y="3690000"/>
            <a:ext cx="3981600" cy="468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Each lab today built one piece of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Example Callout Accent"/>
          <p:cNvSpPr/>
          <p:nvPr/>
        </p:nvSpPr>
        <p:spPr>
          <a:xfrm>
            <a:off x="4561200" y="3690000"/>
            <a:ext cx="90000" cy="468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9013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D7ADC32-F936-49E8-9121-8185BB57A9B7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Lab Title"/>
          <p:cNvSpPr/>
          <p:nvPr/>
        </p:nvSpPr>
        <p:spPr>
          <a:xfrm>
            <a:off x="646560" y="1548000"/>
            <a:ext cx="7200000" cy="15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Steps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567"/>
              </a:spcAft>
            </a:pPr>
            <a:r>
              <a:rPr lang="en-US" sz="2800" b="0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Build your own model and keep exploring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Create and Deploy Your Own Model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6" name="Rectangle 9000"/>
          <p:cNvSpPr/>
          <p:nvPr/>
        </p:nvSpPr>
        <p:spPr>
          <a:xfrm>
            <a:off x="457200" y="1005840"/>
            <a:ext cx="1828440" cy="159984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9001"/>
          <p:cNvSpPr/>
          <p:nvPr/>
        </p:nvSpPr>
        <p:spPr>
          <a:xfrm>
            <a:off x="567000" y="1115640"/>
            <a:ext cx="16088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9002"/>
          <p:cNvSpPr/>
          <p:nvPr/>
        </p:nvSpPr>
        <p:spPr>
          <a:xfrm>
            <a:off x="567000" y="1499760"/>
            <a:ext cx="16088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Train and quantize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Box 9003"/>
          <p:cNvSpPr/>
          <p:nvPr/>
        </p:nvSpPr>
        <p:spPr>
          <a:xfrm>
            <a:off x="567000" y="1807560"/>
            <a:ext cx="160884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Export an int8 TensorFlow Lite model whose input matches a supported model family.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Chevron 9004"/>
          <p:cNvSpPr/>
          <p:nvPr/>
        </p:nvSpPr>
        <p:spPr>
          <a:xfrm>
            <a:off x="2331720" y="1668960"/>
            <a:ext cx="219240" cy="2739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21" name="Rectangle 9005"/>
          <p:cNvSpPr/>
          <p:nvPr/>
        </p:nvSpPr>
        <p:spPr>
          <a:xfrm>
            <a:off x="2597040" y="1005840"/>
            <a:ext cx="1828440" cy="159984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Box 9006"/>
          <p:cNvSpPr/>
          <p:nvPr/>
        </p:nvSpPr>
        <p:spPr>
          <a:xfrm>
            <a:off x="2706480" y="1115640"/>
            <a:ext cx="16088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Box 9007"/>
          <p:cNvSpPr/>
          <p:nvPr/>
        </p:nvSpPr>
        <p:spPr>
          <a:xfrm>
            <a:off x="2706480" y="1499760"/>
            <a:ext cx="16088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Compile with Vela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Box 9008"/>
          <p:cNvSpPr/>
          <p:nvPr/>
        </p:nvSpPr>
        <p:spPr>
          <a:xfrm>
            <a:off x="2706480" y="1807560"/>
            <a:ext cx="160884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Target ethos-u55-256. If Total SRAM used exceeds 640 KiB, recompile with the Size optimisation.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Chevron 9009"/>
          <p:cNvSpPr/>
          <p:nvPr/>
        </p:nvSpPr>
        <p:spPr>
          <a:xfrm>
            <a:off x="4471560" y="1668960"/>
            <a:ext cx="219240" cy="2739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26" name="Rectangle 9010"/>
          <p:cNvSpPr/>
          <p:nvPr/>
        </p:nvSpPr>
        <p:spPr>
          <a:xfrm>
            <a:off x="4736520" y="1005840"/>
            <a:ext cx="1828440" cy="159984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Box 9011"/>
          <p:cNvSpPr/>
          <p:nvPr/>
        </p:nvSpPr>
        <p:spPr>
          <a:xfrm>
            <a:off x="4846320" y="1115640"/>
            <a:ext cx="16088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Box 9012"/>
          <p:cNvSpPr/>
          <p:nvPr/>
        </p:nvSpPr>
        <p:spPr>
          <a:xfrm>
            <a:off x="4846320" y="1499760"/>
            <a:ext cx="16088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Pack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Box 9013"/>
          <p:cNvSpPr/>
          <p:nvPr/>
        </p:nvSpPr>
        <p:spPr>
          <a:xfrm>
            <a:off x="4846320" y="1807560"/>
            <a:ext cx="160884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tools/pack_model.py wraps it in the IOTV envelope and writes an uncompressed zip.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Chevron 9014"/>
          <p:cNvSpPr/>
          <p:nvPr/>
        </p:nvSpPr>
        <p:spPr>
          <a:xfrm>
            <a:off x="6611040" y="1668960"/>
            <a:ext cx="219240" cy="27396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1" name="Rectangle 9015"/>
          <p:cNvSpPr/>
          <p:nvPr/>
        </p:nvSpPr>
        <p:spPr>
          <a:xfrm>
            <a:off x="6876360" y="1005840"/>
            <a:ext cx="1828440" cy="159984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Box 9016"/>
          <p:cNvSpPr/>
          <p:nvPr/>
        </p:nvSpPr>
        <p:spPr>
          <a:xfrm>
            <a:off x="6986160" y="1115640"/>
            <a:ext cx="16088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Box 9017"/>
          <p:cNvSpPr/>
          <p:nvPr/>
        </p:nvSpPr>
        <p:spPr>
          <a:xfrm>
            <a:off x="6986160" y="1499760"/>
            <a:ext cx="16088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Upload and push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Box 9018"/>
          <p:cNvSpPr/>
          <p:nvPr/>
        </p:nvSpPr>
        <p:spPr>
          <a:xfrm>
            <a:off x="6986160" y="1807560"/>
            <a:ext cx="1608840" cy="6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AI Models, create a model with Variant Renesas and upload the zip. Push it to one device, then the fleet.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Families"/>
          <p:cNvSpPr/>
          <p:nvPr/>
        </p:nvSpPr>
        <p:spPr>
          <a:xfrm>
            <a:off x="457200" y="2732400"/>
            <a:ext cx="4042800" cy="129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6" name="Families Title"/>
          <p:cNvSpPr/>
          <p:nvPr/>
        </p:nvSpPr>
        <p:spPr>
          <a:xfrm>
            <a:off x="585360" y="2840400"/>
            <a:ext cx="37728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Supported model families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Families Body"/>
          <p:cNvSpPr/>
          <p:nvPr/>
        </p:nvSpPr>
        <p:spPr>
          <a:xfrm>
            <a:off x="585360" y="3092400"/>
            <a:ext cx="37872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Face detector: 192×192 grayscale input (YOLO Fastest)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Classifier: 32–224 px gray or RGB input, with 2 or 1000 classes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Limits"/>
          <p:cNvSpPr/>
          <p:nvPr/>
        </p:nvSpPr>
        <p:spPr>
          <a:xfrm>
            <a:off x="4644000" y="2732400"/>
            <a:ext cx="4042800" cy="1296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9" name="Limits Title"/>
          <p:cNvSpPr/>
          <p:nvPr/>
        </p:nvSpPr>
        <p:spPr>
          <a:xfrm>
            <a:off x="4772160" y="2840400"/>
            <a:ext cx="37728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Limits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Limits Body"/>
          <p:cNvSpPr/>
          <p:nvPr/>
        </p:nvSpPr>
        <p:spPr>
          <a:xfrm>
            <a:off x="4772160" y="3092400"/>
            <a:ext cx="3787200" cy="8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 to 4 MB packed and 640 KiB of Vela SRAM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Must run entirely on the Ethos-U55 NPU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unsupported model is rejected, and the previous one is restored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Dashboard Notice"/>
          <p:cNvSpPr/>
          <p:nvPr/>
        </p:nvSpPr>
        <p:spPr>
          <a:xfrm>
            <a:off x="457200" y="4172400"/>
            <a:ext cx="8229240" cy="360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Exact commands and details are in the Developer Guide, section 9: AI Models.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Dashboard Notice Accent"/>
          <p:cNvSpPr/>
          <p:nvPr/>
        </p:nvSpPr>
        <p:spPr>
          <a:xfrm>
            <a:off x="457200" y="4172400"/>
            <a:ext cx="90000" cy="360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Box 9029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11155FC-6FD8-46BF-B47B-D4D7296BA93E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457200" y="292680"/>
            <a:ext cx="773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5000"/>
              </a:lnSpc>
              <a:buNone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Explore the Repository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5" name="Repo Band"/>
          <p:cNvSpPr/>
          <p:nvPr/>
        </p:nvSpPr>
        <p:spPr>
          <a:xfrm>
            <a:off x="457560" y="990000"/>
            <a:ext cx="8229240" cy="540000"/>
          </a:xfrm>
          <a:prstGeom prst="rect">
            <a:avLst/>
          </a:prstGeom>
          <a:solidFill>
            <a:srgbClr val="E6F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4000" tIns="90000" rIns="216000" bIns="90000" anchor="ctr">
            <a:noAutofit/>
          </a:bodyPr>
          <a:p>
            <a:pPr>
              <a:lnSpc>
                <a:spcPct val="100000"/>
              </a:lnSpc>
              <a:spcAft>
                <a:spcPts val="283"/>
              </a:spcAft>
            </a:pPr>
            <a:r>
              <a:rPr lang="en-US" sz="1100" b="1" u="none" spc="142" strike="noStrike">
                <a:solidFill>
                  <a:srgbClr val="368748"/>
                </a:solidFill>
                <a:effectLst/>
                <a:uFillTx/>
                <a:latin typeface="Arial"/>
              </a:rPr>
              <a:t>THE REPOSITORY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600" b="1" u="none" strike="noStrike">
                <a:solidFill>
                  <a:srgbClr val="1E2226"/>
                </a:solidFill>
                <a:effectLst/>
                <a:uFillTx/>
                <a:latin typeface="Arial"/>
              </a:rPr>
              <a:t>github.com/avnet-iotconnect/iotc-freertos-ek-ra8p1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epo Band Accent"/>
          <p:cNvSpPr/>
          <p:nvPr/>
        </p:nvSpPr>
        <p:spPr>
          <a:xfrm>
            <a:off x="457560" y="990000"/>
            <a:ext cx="90000" cy="540000"/>
          </a:xfrm>
          <a:prstGeom prst="rect">
            <a:avLst/>
          </a:prstGeom>
          <a:solidFill>
            <a:srgbClr val="41C3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Quickstart"/>
          <p:cNvSpPr/>
          <p:nvPr/>
        </p:nvSpPr>
        <p:spPr>
          <a:xfrm>
            <a:off x="457200" y="1638000"/>
            <a:ext cx="2647080" cy="1368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48" name="Quickstart Title"/>
          <p:cNvSpPr/>
          <p:nvPr/>
        </p:nvSpPr>
        <p:spPr>
          <a:xfrm>
            <a:off x="585360" y="1746000"/>
            <a:ext cx="2377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Quickstart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Quickstart Body"/>
          <p:cNvSpPr/>
          <p:nvPr/>
        </p:nvSpPr>
        <p:spPr>
          <a:xfrm>
            <a:off x="585360" y="1998000"/>
            <a:ext cx="2391480" cy="65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Repeat today at home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Prebuilt image, no toolchain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unboxing to live video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Developer Guide"/>
          <p:cNvSpPr/>
          <p:nvPr/>
        </p:nvSpPr>
        <p:spPr>
          <a:xfrm>
            <a:off x="3248280" y="1638000"/>
            <a:ext cx="2647080" cy="1368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51" name="Developer Guide Title"/>
          <p:cNvSpPr/>
          <p:nvPr/>
        </p:nvSpPr>
        <p:spPr>
          <a:xfrm>
            <a:off x="3376440" y="1746000"/>
            <a:ext cx="2377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Developer Guide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Developer Guide Body"/>
          <p:cNvSpPr/>
          <p:nvPr/>
        </p:nvSpPr>
        <p:spPr>
          <a:xfrm>
            <a:off x="3376440" y="1998000"/>
            <a:ext cx="2391480" cy="65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 from source with e² studio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 and memory budget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Adding your own models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Also Included"/>
          <p:cNvSpPr/>
          <p:nvPr/>
        </p:nvSpPr>
        <p:spPr>
          <a:xfrm>
            <a:off x="6039720" y="1638000"/>
            <a:ext cx="2647080" cy="1368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54" name="Also Included Title"/>
          <p:cNvSpPr/>
          <p:nvPr/>
        </p:nvSpPr>
        <p:spPr>
          <a:xfrm>
            <a:off x="6167880" y="1746000"/>
            <a:ext cx="2377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4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Also in the repo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Also Included Body"/>
          <p:cNvSpPr/>
          <p:nvPr/>
        </p:nvSpPr>
        <p:spPr>
          <a:xfrm>
            <a:off x="6167880" y="1998000"/>
            <a:ext cx="239148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Prebuilt firmware image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template and dashboard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Five ready-to-push models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workshop slides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Box 9019"/>
          <p:cNvSpPr/>
          <p:nvPr/>
        </p:nvSpPr>
        <p:spPr>
          <a:xfrm>
            <a:off x="457200" y="3114000"/>
            <a:ext cx="8229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0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MORE RENESAS /IOTCONNECT DEMOS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Demo 1"/>
          <p:cNvSpPr/>
          <p:nvPr/>
        </p:nvSpPr>
        <p:spPr>
          <a:xfrm>
            <a:off x="457200" y="3330000"/>
            <a:ext cx="2647080" cy="1188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58" name="Demo 1 Title"/>
          <p:cNvSpPr/>
          <p:nvPr/>
        </p:nvSpPr>
        <p:spPr>
          <a:xfrm>
            <a:off x="567000" y="3438000"/>
            <a:ext cx="24274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CK-RA6M5 Cloud Kit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Demo 1 Body"/>
          <p:cNvSpPr/>
          <p:nvPr/>
        </p:nvSpPr>
        <p:spPr>
          <a:xfrm>
            <a:off x="567000" y="3708000"/>
            <a:ext cx="242748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sensor data over a DA16K Wi-Fi PMOD.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github.com/avnet-iotconnect/iotc-freertos-ck-ra6m5-v2-pmod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Demo 2"/>
          <p:cNvSpPr/>
          <p:nvPr/>
        </p:nvSpPr>
        <p:spPr>
          <a:xfrm>
            <a:off x="3248280" y="3330000"/>
            <a:ext cx="2647080" cy="1188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61" name="Demo 2 Title"/>
          <p:cNvSpPr/>
          <p:nvPr/>
        </p:nvSpPr>
        <p:spPr>
          <a:xfrm>
            <a:off x="3358080" y="3438000"/>
            <a:ext cx="24274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EK-RA6W1 Wi-Fi MCU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Demo 2 Body"/>
          <p:cNvSpPr/>
          <p:nvPr/>
        </p:nvSpPr>
        <p:spPr>
          <a:xfrm>
            <a:off x="3358080" y="3708000"/>
            <a:ext cx="242748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Telemetry and commands over the RA6W1’s built-in Wi-Fi.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github.com/avnet-iotconnect/iotc-freertos-ek-ra6w1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Demo 3"/>
          <p:cNvSpPr/>
          <p:nvPr/>
        </p:nvSpPr>
        <p:spPr>
          <a:xfrm>
            <a:off x="6039720" y="3330000"/>
            <a:ext cx="2647080" cy="1188000"/>
          </a:xfrm>
          <a:prstGeom prst="rect">
            <a:avLst/>
          </a:prstGeom>
          <a:solidFill>
            <a:srgbClr val="FFFFFF"/>
          </a:solidFill>
          <a:ln w="9360">
            <a:solidFill>
              <a:srgbClr val="D2D2D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64" name="Demo 3 Title"/>
          <p:cNvSpPr/>
          <p:nvPr/>
        </p:nvSpPr>
        <p:spPr>
          <a:xfrm>
            <a:off x="6149520" y="3438000"/>
            <a:ext cx="24274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1200" b="1" u="none" strike="noStrike">
                <a:solidFill>
                  <a:srgbClr val="41C363"/>
                </a:solidFill>
                <a:effectLst/>
                <a:uFillTx/>
                <a:latin typeface="Arial"/>
              </a:rPr>
              <a:t>All /IOTCONNECT Projects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Demo 3 Body"/>
          <p:cNvSpPr/>
          <p:nvPr/>
        </p:nvSpPr>
        <p:spPr>
          <a:xfrm>
            <a:off x="6149520" y="3708000"/>
            <a:ext cx="242748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SDKs, demos and documentation.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300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github.com/avnet-iotconnect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Box 9029"/>
          <p:cNvSpPr/>
          <p:nvPr/>
        </p:nvSpPr>
        <p:spPr>
          <a:xfrm>
            <a:off x="457200" y="4827960"/>
            <a:ext cx="548604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lang="en-US" sz="800" b="0" u="none" strike="noStrike">
                <a:solidFill>
                  <a:srgbClr val="919191"/>
                </a:solidFill>
                <a:effectLst/>
                <a:uFillTx/>
                <a:latin typeface="Arial"/>
              </a:rPr>
              <a:t>EK-RA8P1 · /IOTCONNECT workshop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232411D-63C8-4A9C-B742-2F871E7FE161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Avnet PowerPoint Template</Template>
  <TotalTime>2726</TotalTime>
  <Application>LibreOffice/26.2.6.3$Linux_X86_64 LibreOffice_project/620$Build-3</Application>
  <AppVersion>15.0000</AppVersion>
  <Company>Avnet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2026-09-08T15:43:27Z</dcterms:created>
  <dc:creator>Lamp, Michael</dc:creator>
  <dc:description/>
  <dc:language>en-US</dc:language>
  <cp:lastModifiedBy/>
  <cp:lastPrinted>2021-10-21T16:23:04Z</cp:lastPrinted>
  <dcterms:modified xsi:type="dcterms:W3CDTF">2026-10-02T01:20:55Z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0x010100B88206BF1EA2CD41B32C08CA47A89AB2</vt:lpwstr>
  </property>
  <property fmtid="{D5CDD505-2E9C-101B-9397-08002B2CF9AE}" pid="3" name="MediaServiceImageTags">
    <vt:lpwstr/>
  </property>
  <property fmtid="{D5CDD505-2E9C-101B-9397-08002B2CF9AE}" pid="4" name="Notes">
    <vt:r8>4</vt:r8>
  </property>
  <property fmtid="{D5CDD505-2E9C-101B-9397-08002B2CF9AE}" pid="5" name="PresentationFormat">
    <vt:lpwstr>On-screen Show (16:9)</vt:lpwstr>
  </property>
  <property fmtid="{D5CDD505-2E9C-101B-9397-08002B2CF9AE}" pid="6" name="Slides">
    <vt:r8>40</vt:r8>
  </property>
</Properties>
</file>